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c58febbae34521" /><Relationship Type="http://schemas.openxmlformats.org/officeDocument/2006/relationships/extended-properties" Target="/docProps/app.xml" Id="Ra89cce449dd04cd9" /><Relationship Type="http://schemas.openxmlformats.org/officeDocument/2006/relationships/officeDocument" Target="/ppt/presentation.xml" Id="R8538a7780e9742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af73af69549cc"/>
  </p:sldMasterIdLst>
  <p:notesMasterIdLst>
    <p:notesMasterId xmlns:r="http://schemas.openxmlformats.org/officeDocument/2006/relationships" r:id="R978b732ba2774a41"/>
  </p:notesMasterIdLst>
  <p:sldIdLst>
    <p:sldId xmlns:r="http://schemas.openxmlformats.org/officeDocument/2006/relationships" id="256" r:id="Rd58d38cdb8d640a7"/>
    <p:sldId xmlns:r="http://schemas.openxmlformats.org/officeDocument/2006/relationships" id="257" r:id="Re76fb1980f954e90"/>
    <p:sldId xmlns:r="http://schemas.openxmlformats.org/officeDocument/2006/relationships" id="258" r:id="R0dcb78ed6fe54e6c"/>
    <p:sldId xmlns:r="http://schemas.openxmlformats.org/officeDocument/2006/relationships" id="259" r:id="R2053169966a0408e"/>
    <p:sldId xmlns:r="http://schemas.openxmlformats.org/officeDocument/2006/relationships" id="260" r:id="R0ade9bf03afa42fb"/>
    <p:sldId xmlns:r="http://schemas.openxmlformats.org/officeDocument/2006/relationships" id="261" r:id="R3975b995585940da"/>
    <p:sldId xmlns:r="http://schemas.openxmlformats.org/officeDocument/2006/relationships" id="262" r:id="Rb766d89ffdd149bc"/>
    <p:sldId xmlns:r="http://schemas.openxmlformats.org/officeDocument/2006/relationships" id="263" r:id="Re25adce423834e8c"/>
    <p:sldId xmlns:r="http://schemas.openxmlformats.org/officeDocument/2006/relationships" id="264" r:id="R8d0381ee94d64339"/>
    <p:sldId xmlns:r="http://schemas.openxmlformats.org/officeDocument/2006/relationships" id="265" r:id="Ra1e66e30130e42ac"/>
  </p:sldIdLst>
  <p:sldSz cx="12192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1pPr>
    <a:lvl2pPr xmlns:a="http://schemas.openxmlformats.org/drawingml/2006/main" marL="0" marR="0" indent="4572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2pPr>
    <a:lvl3pPr xmlns:a="http://schemas.openxmlformats.org/drawingml/2006/main" marL="0" marR="0" indent="9144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3pPr>
    <a:lvl4pPr xmlns:a="http://schemas.openxmlformats.org/drawingml/2006/main" marL="0" marR="0" indent="13716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4pPr>
    <a:lvl5pPr xmlns:a="http://schemas.openxmlformats.org/drawingml/2006/main" marL="0" marR="0" indent="18288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5pPr>
    <a:lvl6pPr xmlns:a="http://schemas.openxmlformats.org/drawingml/2006/main" marL="0" marR="0" indent="22860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6pPr>
    <a:lvl7pPr xmlns:a="http://schemas.openxmlformats.org/drawingml/2006/main" marL="0" marR="0" indent="27432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7pPr>
    <a:lvl8pPr xmlns:a="http://schemas.openxmlformats.org/drawingml/2006/main" marL="0" marR="0" indent="32004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8pPr>
    <a:lvl9pPr xmlns:a="http://schemas.openxmlformats.org/drawingml/2006/main" marL="0" marR="0" indent="36576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2B1B5E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6DBF9"/>
          </a:solidFill>
        </a:fill>
      </a:tcStyle>
    </a:wholeTbl>
    <a:band2H>
      <a:tcTxStyle b="def" i="def"/>
      <a:tcStyle>
        <a:tcBdr/>
        <a:fill>
          <a:solidFill>
            <a:srgbClr val="ECEEF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DE1"/>
          </a:solidFill>
        </a:fill>
      </a:tcStyle>
    </a:wholeTbl>
    <a:band2H>
      <a:tcTxStyle b="def" i="def"/>
      <a:tcStyle>
        <a:tcBdr/>
        <a:fill>
          <a:solidFill>
            <a:srgbClr val="E9E7F1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CEEFB"/>
          </a:solidFill>
        </a:fill>
      </a:tcStyle>
    </a:wholeTbl>
    <a:band2H>
      <a:tcTxStyle b="def" i="def"/>
      <a:tcStyle>
        <a:tcBdr/>
        <a:fill>
          <a:solidFill>
            <a:srgbClr val="F6F7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2B1B5E"/>
        </a:fontRef>
        <a:srgbClr val="2B1B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B1B5E"/>
              </a:solidFill>
              <a:prstDash val="solid"/>
              <a:round/>
            </a:ln>
          </a:top>
          <a:bottom>
            <a:ln w="254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B1B5E"/>
              </a:solidFill>
              <a:prstDash val="solid"/>
              <a:round/>
            </a:ln>
          </a:top>
          <a:bottom>
            <a:ln w="254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BD1"/>
          </a:solidFill>
        </a:fill>
      </a:tcStyle>
    </a:wholeTbl>
    <a:band2H>
      <a:tcTxStyle b="def" i="def"/>
      <a:tcStyle>
        <a:tcBdr/>
        <a:fill>
          <a:solidFill>
            <a:srgbClr val="E7E7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1B5E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1B5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B1B5E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2B1B5E"/>
              </a:solidFill>
              <a:prstDash val="solid"/>
              <a:round/>
            </a:ln>
          </a:left>
          <a:right>
            <a:ln w="12700" cap="flat">
              <a:solidFill>
                <a:srgbClr val="2B1B5E"/>
              </a:solidFill>
              <a:prstDash val="solid"/>
              <a:round/>
            </a:ln>
          </a:right>
          <a:top>
            <a:ln w="12700" cap="flat">
              <a:solidFill>
                <a:srgbClr val="2B1B5E"/>
              </a:solidFill>
              <a:prstDash val="solid"/>
              <a:round/>
            </a:ln>
          </a:top>
          <a:bottom>
            <a:ln w="127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solidFill>
                <a:srgbClr val="2B1B5E"/>
              </a:solidFill>
              <a:prstDash val="solid"/>
              <a:round/>
            </a:ln>
          </a:insideH>
          <a:insideV>
            <a:ln w="12700" cap="flat">
              <a:solidFill>
                <a:srgbClr val="2B1B5E"/>
              </a:solidFill>
              <a:prstDash val="solid"/>
              <a:round/>
            </a:ln>
          </a:insideV>
        </a:tcBdr>
        <a:fill>
          <a:solidFill>
            <a:srgbClr val="2B1B5E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2B1B5E"/>
              </a:solidFill>
              <a:prstDash val="solid"/>
              <a:round/>
            </a:ln>
          </a:left>
          <a:right>
            <a:ln w="12700" cap="flat">
              <a:solidFill>
                <a:srgbClr val="2B1B5E"/>
              </a:solidFill>
              <a:prstDash val="solid"/>
              <a:round/>
            </a:ln>
          </a:right>
          <a:top>
            <a:ln w="12700" cap="flat">
              <a:solidFill>
                <a:srgbClr val="2B1B5E"/>
              </a:solidFill>
              <a:prstDash val="solid"/>
              <a:round/>
            </a:ln>
          </a:top>
          <a:bottom>
            <a:ln w="127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solidFill>
                <a:srgbClr val="2B1B5E"/>
              </a:solidFill>
              <a:prstDash val="solid"/>
              <a:round/>
            </a:ln>
          </a:insideH>
          <a:insideV>
            <a:ln w="12700" cap="flat">
              <a:solidFill>
                <a:srgbClr val="2B1B5E"/>
              </a:solidFill>
              <a:prstDash val="solid"/>
              <a:round/>
            </a:ln>
          </a:insideV>
        </a:tcBdr>
        <a:fill>
          <a:solidFill>
            <a:srgbClr val="2B1B5E">
              <a:alpha val="20000"/>
            </a:srgbClr>
          </a:solidFill>
        </a:fill>
      </a:tcStyle>
    </a:firstCol>
    <a:lastRow>
      <a:tcTxStyle b="on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2B1B5E"/>
              </a:solidFill>
              <a:prstDash val="solid"/>
              <a:round/>
            </a:ln>
          </a:left>
          <a:right>
            <a:ln w="12700" cap="flat">
              <a:solidFill>
                <a:srgbClr val="2B1B5E"/>
              </a:solidFill>
              <a:prstDash val="solid"/>
              <a:round/>
            </a:ln>
          </a:right>
          <a:top>
            <a:ln w="50800" cap="flat">
              <a:solidFill>
                <a:srgbClr val="2B1B5E"/>
              </a:solidFill>
              <a:prstDash val="solid"/>
              <a:round/>
            </a:ln>
          </a:top>
          <a:bottom>
            <a:ln w="127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solidFill>
                <a:srgbClr val="2B1B5E"/>
              </a:solidFill>
              <a:prstDash val="solid"/>
              <a:round/>
            </a:ln>
          </a:insideH>
          <a:insideV>
            <a:ln w="12700" cap="flat">
              <a:solidFill>
                <a:srgbClr val="2B1B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2B1B5E"/>
        </a:fontRef>
        <a:srgbClr val="2B1B5E"/>
      </a:tcTxStyle>
      <a:tcStyle>
        <a:tcBdr>
          <a:left>
            <a:ln w="12700" cap="flat">
              <a:solidFill>
                <a:srgbClr val="2B1B5E"/>
              </a:solidFill>
              <a:prstDash val="solid"/>
              <a:round/>
            </a:ln>
          </a:left>
          <a:right>
            <a:ln w="12700" cap="flat">
              <a:solidFill>
                <a:srgbClr val="2B1B5E"/>
              </a:solidFill>
              <a:prstDash val="solid"/>
              <a:round/>
            </a:ln>
          </a:right>
          <a:top>
            <a:ln w="12700" cap="flat">
              <a:solidFill>
                <a:srgbClr val="2B1B5E"/>
              </a:solidFill>
              <a:prstDash val="solid"/>
              <a:round/>
            </a:ln>
          </a:top>
          <a:bottom>
            <a:ln w="25400" cap="flat">
              <a:solidFill>
                <a:srgbClr val="2B1B5E"/>
              </a:solidFill>
              <a:prstDash val="solid"/>
              <a:round/>
            </a:ln>
          </a:bottom>
          <a:insideH>
            <a:ln w="12700" cap="flat">
              <a:solidFill>
                <a:srgbClr val="2B1B5E"/>
              </a:solidFill>
              <a:prstDash val="solid"/>
              <a:round/>
            </a:ln>
          </a:insideH>
          <a:insideV>
            <a:ln w="12700" cap="flat">
              <a:solidFill>
                <a:srgbClr val="2B1B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74d9d2d16f49d6" /><Relationship Type="http://schemas.openxmlformats.org/officeDocument/2006/relationships/slideMaster" Target="/ppt/slideMasters/slideMaster1.xml" Id="Rf57af73af69549cc" /><Relationship Type="http://schemas.openxmlformats.org/officeDocument/2006/relationships/notesMaster" Target="/ppt/notesMasters/notesMaster1.xml" Id="R978b732ba2774a41" /><Relationship Type="http://schemas.openxmlformats.org/officeDocument/2006/relationships/presProps" Target="/ppt/presProps.xml" Id="Rc3d67622879741b0" /><Relationship Type="http://schemas.openxmlformats.org/officeDocument/2006/relationships/tableStyles" Target="/ppt/tableStyles.xml" Id="R0ae2e51e9ca54c46" /><Relationship Type="http://schemas.openxmlformats.org/officeDocument/2006/relationships/slide" Target="/ppt/slides/slide1.xml" Id="Rd58d38cdb8d640a7" /><Relationship Type="http://schemas.openxmlformats.org/officeDocument/2006/relationships/slide" Target="/ppt/slides/slide2.xml" Id="Re76fb1980f954e90" /><Relationship Type="http://schemas.openxmlformats.org/officeDocument/2006/relationships/slide" Target="/ppt/slides/slide3.xml" Id="R0dcb78ed6fe54e6c" /><Relationship Type="http://schemas.openxmlformats.org/officeDocument/2006/relationships/slide" Target="/ppt/slides/slide4.xml" Id="R2053169966a0408e" /><Relationship Type="http://schemas.openxmlformats.org/officeDocument/2006/relationships/slide" Target="/ppt/slides/slide5.xml" Id="R0ade9bf03afa42fb" /><Relationship Type="http://schemas.openxmlformats.org/officeDocument/2006/relationships/slide" Target="/ppt/slides/slide6.xml" Id="R3975b995585940da" /><Relationship Type="http://schemas.openxmlformats.org/officeDocument/2006/relationships/slide" Target="/ppt/slides/slide7.xml" Id="Rb766d89ffdd149bc" /><Relationship Type="http://schemas.openxmlformats.org/officeDocument/2006/relationships/slide" Target="/ppt/slides/slide8.xml" Id="Re25adce423834e8c" /><Relationship Type="http://schemas.openxmlformats.org/officeDocument/2006/relationships/slide" Target="/ppt/slides/slide9.xml" Id="R8d0381ee94d64339" /><Relationship Type="http://schemas.openxmlformats.org/officeDocument/2006/relationships/slide" Target="/ppt/slides/slide10.xml" Id="Ra1e66e30130e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c0f5775a4c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FF2026">
  <a:themeElements>
    <a:clrScheme name="QFF2026">
      <a:dk1>
        <a:srgbClr val="2B1B5E"/>
      </a:dk1>
      <a:lt1>
        <a:srgbClr val="DDE2FC"/>
      </a:lt1>
      <a:dk2>
        <a:srgbClr val="A7A7A7"/>
      </a:dk2>
      <a:lt2>
        <a:srgbClr val="535353"/>
      </a:lt2>
      <a:accent1>
        <a:srgbClr val="7C93F0"/>
      </a:accent1>
      <a:accent2>
        <a:srgbClr val="E8639F"/>
      </a:accent2>
      <a:accent3>
        <a:srgbClr val="5B3BA8"/>
      </a:accent3>
      <a:accent4>
        <a:srgbClr val="6B6B9A"/>
      </a:accent4>
      <a:accent5>
        <a:srgbClr val="B9BEF0"/>
      </a:accent5>
      <a:accent6>
        <a:srgbClr val="CBD1F5"/>
      </a:accent6>
      <a:hlink>
        <a:srgbClr val="0000FF"/>
      </a:hlink>
      <a:folHlink>
        <a:srgbClr val="FF00FF"/>
      </a:folHlink>
    </a:clrScheme>
    <a:fontScheme name="QFF2026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QFF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e5b419e234586" /><Relationship Type="http://schemas.openxmlformats.org/officeDocument/2006/relationships/notesMaster" Target="/ppt/notesMasters/notesMaster1.xml" Id="R21d1b046f24c44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f70b2665a46ec" /><Relationship Type="http://schemas.openxmlformats.org/officeDocument/2006/relationships/notesMaster" Target="/ppt/notesMasters/notesMaster1.xml" Id="Rdc7d95925207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740dd10e424d5a" /><Relationship Type="http://schemas.openxmlformats.org/officeDocument/2006/relationships/notesMaster" Target="/ppt/notesMasters/notesMaster1.xml" Id="Ra7919689f64f4e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536918751943a7" /><Relationship Type="http://schemas.openxmlformats.org/officeDocument/2006/relationships/notesMaster" Target="/ppt/notesMasters/notesMaster1.xml" Id="Rb0a1cff787ce4a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e5e69eed8443be" /><Relationship Type="http://schemas.openxmlformats.org/officeDocument/2006/relationships/notesMaster" Target="/ppt/notesMasters/notesMaster1.xml" Id="R06cad676d5a14a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3ff42b41974510" /><Relationship Type="http://schemas.openxmlformats.org/officeDocument/2006/relationships/notesMaster" Target="/ppt/notesMasters/notesMaster1.xml" Id="R2b235f37d81c43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71ee02d124001" /><Relationship Type="http://schemas.openxmlformats.org/officeDocument/2006/relationships/notesMaster" Target="/ppt/notesMasters/notesMaster1.xml" Id="R27185c61da2a42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f6902393d34af3" /><Relationship Type="http://schemas.openxmlformats.org/officeDocument/2006/relationships/notesMaster" Target="/ppt/notesMasters/notesMaster1.xml" Id="R9b80bd115f904e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f522809ae4a0f" /><Relationship Type="http://schemas.openxmlformats.org/officeDocument/2006/relationships/notesMaster" Target="/ppt/notesMasters/notesMaster1.xml" Id="R613414aa81ed45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2acbe6555a4222" /><Relationship Type="http://schemas.openxmlformats.org/officeDocument/2006/relationships/notesMaster" Target="/ppt/notesMasters/notesMaster1.xml" Id="R461ced7fb0f640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1444792c94b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6b9a161a474205" /><Relationship Type="http://schemas.openxmlformats.org/officeDocument/2006/relationships/image" Target="/ppt/media/image.png" Id="R1e381c5d912043ae" /><Relationship Type="http://schemas.openxmlformats.org/officeDocument/2006/relationships/image" Target="/ppt/media/image2.png" Id="R75ad0d121ef34558" /><Relationship Type="http://schemas.openxmlformats.org/officeDocument/2006/relationships/image" Target="/ppt/media/image3.png" Id="R7ecd7f1e09824be2" /><Relationship Type="http://schemas.openxmlformats.org/officeDocument/2006/relationships/image" Target="/ppt/media/image4.png" Id="R75ecd2d384dc47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96f748594465a" /><Relationship Type="http://schemas.openxmlformats.org/officeDocument/2006/relationships/image" Target="/ppt/media/image.png" Id="R3813842ea71e4c07" /><Relationship Type="http://schemas.openxmlformats.org/officeDocument/2006/relationships/image" Target="/ppt/media/image2.png" Id="Rf4eefd6d1dbc4581" /><Relationship Type="http://schemas.openxmlformats.org/officeDocument/2006/relationships/image" Target="/ppt/media/image3.png" Id="R4cdd70d40cfb450d" /><Relationship Type="http://schemas.openxmlformats.org/officeDocument/2006/relationships/image" Target="/ppt/media/image4.png" Id="Rf232483180df4cc7" /><Relationship Type="http://schemas.openxmlformats.org/officeDocument/2006/relationships/image" Target="/ppt/media/image5.png" Id="R2fd6c547c5de40cc" /><Relationship Type="http://schemas.openxmlformats.org/officeDocument/2006/relationships/image" Target="/ppt/media/image6.png" Id="Ra69d6a5fbc6b4da0" /><Relationship Type="http://schemas.openxmlformats.org/officeDocument/2006/relationships/image" Target="/ppt/media/image7.png" Id="R992b14f24dff437c" /></Relationships>
</file>

<file path=ppt/slideLayouts/slideLayout1.xml><?xml version="1.0" encoding="utf-8"?>
<p:sldLayout xmlns:p="http://schemas.openxmlformats.org/presentationml/2006/main" showMasterSp="1" showMasterPhAnim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80976E5-326F-4145-A8E1-A00C32571F3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COVER">
    <p:bg>
      <p:bgPr>
        <a:solidFill xmlns:a="http://schemas.openxmlformats.org/drawingml/2006/main">
          <a:srgbClr val="DDE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0">
            <a:extLst xmlns:a="http://schemas.openxmlformats.org/drawingml/2006/main">
              <a:ext uri="{FF2B5EF4-FFF2-40B4-BE49-F238E27FC236}">
                <a16:creationId xmlns:a16="http://schemas.microsoft.com/office/drawing/2014/main" id="{D9F0A199-3FEF-4762-B812-EB2E1E77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12191697" cy="85953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" name="Shape 1">
            <a:extLst xmlns:a="http://schemas.openxmlformats.org/drawingml/2006/main">
              <a:ext uri="{FF2B5EF4-FFF2-40B4-BE49-F238E27FC236}">
                <a16:creationId xmlns:a16="http://schemas.microsoft.com/office/drawing/2014/main" id="{02F36DC5-E37A-43B8-A200-BECD1EA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859536"/>
            <a:ext cx="4063595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" name="Shape 2">
            <a:extLst xmlns:a="http://schemas.openxmlformats.org/drawingml/2006/main">
              <a:ext uri="{FF2B5EF4-FFF2-40B4-BE49-F238E27FC236}">
                <a16:creationId xmlns:a16="http://schemas.microsoft.com/office/drawing/2014/main" id="{C2FCBEFE-5BEC-4D09-AF9A-11276BB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593" y="859536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" name="Shape 3">
            <a:extLst xmlns:a="http://schemas.openxmlformats.org/drawingml/2006/main">
              <a:ext uri="{FF2B5EF4-FFF2-40B4-BE49-F238E27FC236}">
                <a16:creationId xmlns:a16="http://schemas.microsoft.com/office/drawing/2014/main" id="{25A10EFB-22F3-40F0-9775-185BB9F6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102" y="859536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Shape 4">
            <a:extLst xmlns:a="http://schemas.openxmlformats.org/drawingml/2006/main">
              <a:ext uri="{FF2B5EF4-FFF2-40B4-BE49-F238E27FC236}">
                <a16:creationId xmlns:a16="http://schemas.microsoft.com/office/drawing/2014/main" id="{DEB38511-9A2A-4E30-8AF3-3638677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419088"/>
            <a:ext cx="4063595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" name="Shape 5">
            <a:extLst xmlns:a="http://schemas.openxmlformats.org/drawingml/2006/main">
              <a:ext uri="{FF2B5EF4-FFF2-40B4-BE49-F238E27FC236}">
                <a16:creationId xmlns:a16="http://schemas.microsoft.com/office/drawing/2014/main" id="{3E4FBDAC-BE72-4CAC-A004-BE2F916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593" y="6419088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" name="Shape 6">
            <a:extLst xmlns:a="http://schemas.openxmlformats.org/drawingml/2006/main">
              <a:ext uri="{FF2B5EF4-FFF2-40B4-BE49-F238E27FC236}">
                <a16:creationId xmlns:a16="http://schemas.microsoft.com/office/drawing/2014/main" id="{D7E5051B-17EC-47BE-A6B3-FF250A16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102" y="6419088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" name="Shape 7">
            <a:extLst xmlns:a="http://schemas.openxmlformats.org/drawingml/2006/main">
              <a:ext uri="{FF2B5EF4-FFF2-40B4-BE49-F238E27FC236}">
                <a16:creationId xmlns:a16="http://schemas.microsoft.com/office/drawing/2014/main" id="{942759C9-DB0B-4330-BD51-1D822E15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1384"/>
            <a:ext cx="12191697" cy="3566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26" name="Image 0">
            <a:extLst xmlns:a="http://schemas.openxmlformats.org/drawingml/2006/main">
              <a:ext uri="{FF2B5EF4-FFF2-40B4-BE49-F238E27FC236}">
                <a16:creationId xmlns:a16="http://schemas.microsoft.com/office/drawing/2014/main" id="{9EF78F73-1F4D-42E6-8A89-4BDD5DA868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81c5d912043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7" y="128015"/>
            <a:ext cx="649225" cy="64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27" name="Image 1">
            <a:extLst xmlns:a="http://schemas.openxmlformats.org/drawingml/2006/main">
              <a:ext uri="{FF2B5EF4-FFF2-40B4-BE49-F238E27FC236}">
                <a16:creationId xmlns:a16="http://schemas.microsoft.com/office/drawing/2014/main" id="{F9547067-2D55-4D1C-B7C8-61B7A9B49F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d0d121ef3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6152" y="201168"/>
            <a:ext cx="3182112" cy="23774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8" name="Text 8">
            <a:extLst xmlns:a="http://schemas.openxmlformats.org/drawingml/2006/main">
              <a:ext uri="{FF2B5EF4-FFF2-40B4-BE49-F238E27FC236}">
                <a16:creationId xmlns:a16="http://schemas.microsoft.com/office/drawing/2014/main" id="{D2E78FDB-AAE3-4680-9069-F4B2074C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1" y="518160"/>
            <a:ext cx="4389122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i="1"/>
            </a:lvl1pPr>
          </a:lstStyle>
          <a:p xmlns:a="http://schemas.openxmlformats.org/drawingml/2006/main">
            <a:pPr>
              <a:buNone/>
            </a:pPr>
            <a:r>
              <a:t>Visvesvaraya Technological University, Belagavi</a:t>
            </a:r>
          </a:p>
        </p:txBody>
      </p:sp>
      <p:pic>
        <p:nvPicPr>
          <p:cNvPr id="29" name="Image 2">
            <a:extLst xmlns:a="http://schemas.openxmlformats.org/drawingml/2006/main">
              <a:ext uri="{FF2B5EF4-FFF2-40B4-BE49-F238E27FC236}">
                <a16:creationId xmlns:a16="http://schemas.microsoft.com/office/drawing/2014/main" id="{E9D4F8CC-32D9-42B8-99BF-5B874350C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d7f1e09824b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79" y="109728"/>
            <a:ext cx="850393" cy="65836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0" name="Text 9">
            <a:extLst xmlns:a="http://schemas.openxmlformats.org/drawingml/2006/main">
              <a:ext uri="{FF2B5EF4-FFF2-40B4-BE49-F238E27FC236}">
                <a16:creationId xmlns:a16="http://schemas.microsoft.com/office/drawing/2014/main" id="{C70F46E5-FAE5-4186-984D-6B8FFCB4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27583"/>
            <a:ext cx="36576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400" b="1" spc="400"/>
            </a:lvl1pPr>
          </a:lstStyle>
          <a:p xmlns:a="http://schemas.openxmlformats.org/drawingml/2006/main">
            <a:pPr>
              <a:buNone/>
            </a:pPr>
            <a:r>
              <a:t>QISKIT FALL FEST 2026</a:t>
            </a:r>
          </a:p>
        </p:txBody>
      </p:sp>
      <p:sp>
        <p:nvSpPr>
          <p:cNvPr id="31" name="Text 10">
            <a:extLst xmlns:a="http://schemas.openxmlformats.org/drawingml/2006/main">
              <a:ext uri="{FF2B5EF4-FFF2-40B4-BE49-F238E27FC236}">
                <a16:creationId xmlns:a16="http://schemas.microsoft.com/office/drawing/2014/main" id="{989B884B-47BD-4D68-9E7B-BDA8C326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563879"/>
            <a:ext cx="3657601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 i="1" spc="200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IBM Quantum</a:t>
            </a:r>
          </a:p>
        </p:txBody>
      </p:sp>
      <p:pic>
        <p:nvPicPr>
          <p:cNvPr id="32" name="Image 3">
            <a:extLst xmlns:a="http://schemas.openxmlformats.org/drawingml/2006/main">
              <a:ext uri="{FF2B5EF4-FFF2-40B4-BE49-F238E27FC236}">
                <a16:creationId xmlns:a16="http://schemas.microsoft.com/office/drawing/2014/main" id="{FC78E58A-7558-4AA9-86A7-CFAED51F74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cd2d384dc47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4240" y="128015"/>
            <a:ext cx="649225" cy="64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3" name="Text 11">
            <a:extLst xmlns:a="http://schemas.openxmlformats.org/drawingml/2006/main">
              <a:ext uri="{FF2B5EF4-FFF2-40B4-BE49-F238E27FC236}">
                <a16:creationId xmlns:a16="http://schemas.microsoft.com/office/drawing/2014/main" id="{60B404F3-6AC7-4F53-8D85-E422F31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602475"/>
            <a:ext cx="6858001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400"/>
            </a:lvl1pPr>
          </a:lstStyle>
          <a:p xmlns:a="http://schemas.openxmlformats.org/drawingml/2006/main">
            <a:pPr>
              <a:buNone/>
            </a:pPr>
            <a:r>
              <a:t>QISKIT FALL FEST 2026  ·  HOSTED BY VTU, BELAGAVI</a:t>
            </a:r>
          </a:p>
        </p:txBody>
      </p:sp>
      <p:sp>
        <p:nvSpPr>
          <p:cNvPr id="34" name="Text 12">
            <a:extLst xmlns:a="http://schemas.openxmlformats.org/drawingml/2006/main">
              <a:ext uri="{FF2B5EF4-FFF2-40B4-BE49-F238E27FC236}">
                <a16:creationId xmlns:a16="http://schemas.microsoft.com/office/drawing/2014/main" id="{BB0C238F-5022-4628-BDAF-CC00E7E8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602475"/>
            <a:ext cx="3346704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900" b="1" spc="400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27 – 31 OCT 2026</a:t>
            </a:r>
          </a:p>
        </p:txBody>
      </p:sp>
      <p:sp>
        <p:nvSpPr>
          <p:cNvPr id="3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C2C47DE-9B3A-4C06-B86C-E334931EC8C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CONTENT">
    <p:bg>
      <p:bgPr>
        <a:solidFill xmlns:a="http://schemas.openxmlformats.org/drawingml/2006/main">
          <a:srgbClr val="DDE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hape 0">
            <a:extLst xmlns:a="http://schemas.openxmlformats.org/drawingml/2006/main">
              <a:ext uri="{FF2B5EF4-FFF2-40B4-BE49-F238E27FC236}">
                <a16:creationId xmlns:a16="http://schemas.microsoft.com/office/drawing/2014/main" id="{6DABFF26-35DC-4357-AC0F-7EB80DE1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1"/>
            <a:ext cx="12191697" cy="85953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3" name="Shape 1">
            <a:extLst xmlns:a="http://schemas.openxmlformats.org/drawingml/2006/main">
              <a:ext uri="{FF2B5EF4-FFF2-40B4-BE49-F238E27FC236}">
                <a16:creationId xmlns:a16="http://schemas.microsoft.com/office/drawing/2014/main" id="{27CBF0A7-30DA-4B4F-8301-5B489EA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859536"/>
            <a:ext cx="4063595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4" name="Shape 2">
            <a:extLst xmlns:a="http://schemas.openxmlformats.org/drawingml/2006/main">
              <a:ext uri="{FF2B5EF4-FFF2-40B4-BE49-F238E27FC236}">
                <a16:creationId xmlns:a16="http://schemas.microsoft.com/office/drawing/2014/main" id="{4F910AB4-B9C3-4D83-9F08-F46D7E85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593" y="859536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5" name="Shape 3">
            <a:extLst xmlns:a="http://schemas.openxmlformats.org/drawingml/2006/main">
              <a:ext uri="{FF2B5EF4-FFF2-40B4-BE49-F238E27FC236}">
                <a16:creationId xmlns:a16="http://schemas.microsoft.com/office/drawing/2014/main" id="{FD82C847-CAC0-400B-89BF-0E36959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102" y="859536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6" name="Shape 4">
            <a:extLst xmlns:a="http://schemas.openxmlformats.org/drawingml/2006/main">
              <a:ext uri="{FF2B5EF4-FFF2-40B4-BE49-F238E27FC236}">
                <a16:creationId xmlns:a16="http://schemas.microsoft.com/office/drawing/2014/main" id="{658A1A1A-27E0-4DA7-BCDD-8808FF9D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419088"/>
            <a:ext cx="4063595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7" name="Shape 5">
            <a:extLst xmlns:a="http://schemas.openxmlformats.org/drawingml/2006/main">
              <a:ext uri="{FF2B5EF4-FFF2-40B4-BE49-F238E27FC236}">
                <a16:creationId xmlns:a16="http://schemas.microsoft.com/office/drawing/2014/main" id="{514E7C8D-2A84-4CAD-9BEB-275D1609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593" y="6419088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8" name="Shape 6">
            <a:extLst xmlns:a="http://schemas.openxmlformats.org/drawingml/2006/main">
              <a:ext uri="{FF2B5EF4-FFF2-40B4-BE49-F238E27FC236}">
                <a16:creationId xmlns:a16="http://schemas.microsoft.com/office/drawing/2014/main" id="{9328CD07-CEAC-4097-9AF6-01FD28F3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102" y="6419088"/>
            <a:ext cx="4063594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9" name="Shape 7">
            <a:extLst xmlns:a="http://schemas.openxmlformats.org/drawingml/2006/main">
              <a:ext uri="{FF2B5EF4-FFF2-40B4-BE49-F238E27FC236}">
                <a16:creationId xmlns:a16="http://schemas.microsoft.com/office/drawing/2014/main" id="{74B29250-DBD9-4CB3-AE85-456D64D5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6501384"/>
            <a:ext cx="12191697" cy="35661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50" name="Image 0">
            <a:extLst xmlns:a="http://schemas.openxmlformats.org/drawingml/2006/main">
              <a:ext uri="{FF2B5EF4-FFF2-40B4-BE49-F238E27FC236}">
                <a16:creationId xmlns:a16="http://schemas.microsoft.com/office/drawing/2014/main" id="{E6CC4578-7DBE-47D5-98C5-BABCB893F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3842ea71e4c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7" y="128015"/>
            <a:ext cx="649225" cy="64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51" name="Image 1">
            <a:extLst xmlns:a="http://schemas.openxmlformats.org/drawingml/2006/main">
              <a:ext uri="{FF2B5EF4-FFF2-40B4-BE49-F238E27FC236}">
                <a16:creationId xmlns:a16="http://schemas.microsoft.com/office/drawing/2014/main" id="{49760003-C2D3-4505-86B4-0F7254B127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efd6d1dbc45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6152" y="201168"/>
            <a:ext cx="3182112" cy="23774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2" name="Text 8">
            <a:extLst xmlns:a="http://schemas.openxmlformats.org/drawingml/2006/main">
              <a:ext uri="{FF2B5EF4-FFF2-40B4-BE49-F238E27FC236}">
                <a16:creationId xmlns:a16="http://schemas.microsoft.com/office/drawing/2014/main" id="{693F7E84-8769-4E05-A566-A1B5B0B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1" y="518160"/>
            <a:ext cx="4389122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 i="1"/>
            </a:lvl1pPr>
          </a:lstStyle>
          <a:p xmlns:a="http://schemas.openxmlformats.org/drawingml/2006/main">
            <a:pPr>
              <a:buNone/>
            </a:pPr>
            <a:r>
              <a:t>Visvesvaraya Technological University, Belagavi</a:t>
            </a:r>
          </a:p>
        </p:txBody>
      </p:sp>
      <p:pic>
        <p:nvPicPr>
          <p:cNvPr id="53" name="Image 2">
            <a:extLst xmlns:a="http://schemas.openxmlformats.org/drawingml/2006/main">
              <a:ext uri="{FF2B5EF4-FFF2-40B4-BE49-F238E27FC236}">
                <a16:creationId xmlns:a16="http://schemas.microsoft.com/office/drawing/2014/main" id="{4B174756-53FC-406E-BECB-D6E1793ED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d70d40cfb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79" y="109728"/>
            <a:ext cx="850393" cy="65836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4" name="Text 9">
            <a:extLst xmlns:a="http://schemas.openxmlformats.org/drawingml/2006/main">
              <a:ext uri="{FF2B5EF4-FFF2-40B4-BE49-F238E27FC236}">
                <a16:creationId xmlns:a16="http://schemas.microsoft.com/office/drawing/2014/main" id="{3F79B7BC-FF38-4890-B72F-2F555389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27583"/>
            <a:ext cx="36576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400" b="1" spc="400"/>
            </a:lvl1pPr>
          </a:lstStyle>
          <a:p xmlns:a="http://schemas.openxmlformats.org/drawingml/2006/main">
            <a:pPr>
              <a:buNone/>
            </a:pPr>
            <a:r>
              <a:t>QISKIT FALL FEST 2026</a:t>
            </a:r>
          </a:p>
        </p:txBody>
      </p:sp>
      <p:sp>
        <p:nvSpPr>
          <p:cNvPr id="55" name="Text 10">
            <a:extLst xmlns:a="http://schemas.openxmlformats.org/drawingml/2006/main">
              <a:ext uri="{FF2B5EF4-FFF2-40B4-BE49-F238E27FC236}">
                <a16:creationId xmlns:a16="http://schemas.microsoft.com/office/drawing/2014/main" id="{72EA2DD0-ADA4-4D3F-9849-AE3B008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563879"/>
            <a:ext cx="3657601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1100" b="1" i="1" spc="200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IBM Quantum</a:t>
            </a:r>
          </a:p>
        </p:txBody>
      </p:sp>
      <p:pic>
        <p:nvPicPr>
          <p:cNvPr id="56" name="Image 3">
            <a:extLst xmlns:a="http://schemas.openxmlformats.org/drawingml/2006/main">
              <a:ext uri="{FF2B5EF4-FFF2-40B4-BE49-F238E27FC236}">
                <a16:creationId xmlns:a16="http://schemas.microsoft.com/office/drawing/2014/main" id="{4589C79B-615C-4AAC-B538-6D80542F7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2483180df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4240" y="128015"/>
            <a:ext cx="649225" cy="64922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7" name="Text 11">
            <a:extLst xmlns:a="http://schemas.openxmlformats.org/drawingml/2006/main">
              <a:ext uri="{FF2B5EF4-FFF2-40B4-BE49-F238E27FC236}">
                <a16:creationId xmlns:a16="http://schemas.microsoft.com/office/drawing/2014/main" id="{36091963-FA3D-4BB8-B88C-FE769EAC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6602475"/>
            <a:ext cx="6858001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400"/>
            </a:lvl1pPr>
          </a:lstStyle>
          <a:p xmlns:a="http://schemas.openxmlformats.org/drawingml/2006/main">
            <a:pPr>
              <a:buNone/>
            </a:pPr>
            <a:r>
              <a:t>QISKIT FALL FEST 2026  ·  HOSTED BY VTU, BELAGAVI</a:t>
            </a:r>
          </a:p>
        </p:txBody>
      </p:sp>
      <p:sp>
        <p:nvSpPr>
          <p:cNvPr id="58" name="Text 12">
            <a:extLst xmlns:a="http://schemas.openxmlformats.org/drawingml/2006/main">
              <a:ext uri="{FF2B5EF4-FFF2-40B4-BE49-F238E27FC236}">
                <a16:creationId xmlns:a16="http://schemas.microsoft.com/office/drawing/2014/main" id="{81C87FD7-ADC4-4433-B83F-ED24EC7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6602475"/>
            <a:ext cx="3346704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r">
              <a:buNone/>
              <a:defRPr sz="900" b="1" spc="400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27 – 31 OCT 2026</a:t>
            </a:r>
          </a:p>
        </p:txBody>
      </p:sp>
      <p:sp>
        <p:nvSpPr>
          <p:cNvPr id="59" name="Shape 13">
            <a:extLst xmlns:a="http://schemas.openxmlformats.org/drawingml/2006/main">
              <a:ext uri="{FF2B5EF4-FFF2-40B4-BE49-F238E27FC236}">
                <a16:creationId xmlns:a16="http://schemas.microsoft.com/office/drawing/2014/main" id="{3E662F5A-DAA7-4562-AB17-591293FF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1938527"/>
            <a:ext cx="365761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0" name="Shape 14">
            <a:extLst xmlns:a="http://schemas.openxmlformats.org/drawingml/2006/main">
              <a:ext uri="{FF2B5EF4-FFF2-40B4-BE49-F238E27FC236}">
                <a16:creationId xmlns:a16="http://schemas.microsoft.com/office/drawing/2014/main" id="{9BE1573E-EC93-40F4-818B-F76A7E5C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1938527"/>
            <a:ext cx="365761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1" name="Shape 15">
            <a:extLst xmlns:a="http://schemas.openxmlformats.org/drawingml/2006/main">
              <a:ext uri="{FF2B5EF4-FFF2-40B4-BE49-F238E27FC236}">
                <a16:creationId xmlns:a16="http://schemas.microsoft.com/office/drawing/2014/main" id="{0C97E7EE-BEFE-48EF-95D6-318F01B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38527"/>
            <a:ext cx="365761" cy="822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pic>
        <p:nvPicPr>
          <p:cNvPr id="62" name="Image 4">
            <a:extLst xmlns:a="http://schemas.openxmlformats.org/drawingml/2006/main">
              <a:ext uri="{FF2B5EF4-FFF2-40B4-BE49-F238E27FC236}">
                <a16:creationId xmlns:a16="http://schemas.microsoft.com/office/drawing/2014/main" id="{655B574F-B3BB-488B-B144-46ABBCDDF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6c547c5de40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081" y="1155531"/>
            <a:ext cx="711741" cy="42704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3" name="Image 5">
            <a:extLst xmlns:a="http://schemas.openxmlformats.org/drawingml/2006/main">
              <a:ext uri="{FF2B5EF4-FFF2-40B4-BE49-F238E27FC236}">
                <a16:creationId xmlns:a16="http://schemas.microsoft.com/office/drawing/2014/main" id="{B878EFB0-BF03-4F9D-BBE5-D9A5A614E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d6a5fbc6b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0758" y="1657936"/>
            <a:ext cx="485659" cy="29139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64" name="Image 6">
            <a:extLst xmlns:a="http://schemas.openxmlformats.org/drawingml/2006/main">
              <a:ext uri="{FF2B5EF4-FFF2-40B4-BE49-F238E27FC236}">
                <a16:creationId xmlns:a16="http://schemas.microsoft.com/office/drawing/2014/main" id="{7C26A579-FE1E-4D25-B17D-F00F361FCF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b14f24dff43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33759" y="1088544"/>
            <a:ext cx="1055052" cy="105505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5" name="Click to add title">
            <a:extLst xmlns:a="http://schemas.openxmlformats.org/drawingml/2006/main">
              <a:ext uri="{FF2B5EF4-FFF2-40B4-BE49-F238E27FC236}">
                <a16:creationId xmlns:a16="http://schemas.microsoft.com/office/drawing/2014/main" id="{22F1913F-1116-44D7-A873-9308CFB4947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 lnSpcReduction="0"/>
          </a:bodyPr>
          <a:lstStyle xmlns:a="http://schemas.openxmlformats.org/drawingml/2006/main">
            <a:lvl1pPr algn="l">
              <a:buNone/>
              <a:defRPr sz="3200" b="1"/>
            </a:lvl1pPr>
          </a:lstStyle>
          <a:p xmlns:a="http://schemas.openxmlformats.org/drawingml/2006/main">
            <a:pPr>
              <a:buNone/>
            </a:pPr>
            <a:r>
              <a:t>Click to add title</a:t>
            </a:r>
          </a:p>
        </p:txBody>
      </p:sp>
      <p:sp>
        <p:nvSpPr>
          <p:cNvPr id="6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3C7DE4B-B47D-4F5C-8AFD-FF4A72614A7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1341794" y="6537959"/>
            <a:ext cx="267852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0bb3c2f1d4ab6" /><Relationship Type="http://schemas.openxmlformats.org/officeDocument/2006/relationships/slideLayout" Target="/ppt/slideLayouts/slideLayout1.xml" Id="Rb83044610e7a4e9e" /><Relationship Type="http://schemas.openxmlformats.org/officeDocument/2006/relationships/slideLayout" Target="/ppt/slideLayouts/slideLayout2.xml" Id="R0671cebcf71f46f3" /><Relationship Type="http://schemas.openxmlformats.org/officeDocument/2006/relationships/slideLayout" Target="/ppt/slideLayouts/slideLayout3.xml" Id="Ra07e52b98f4342b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56F20547-D538-46EA-9852-93BE9DC5E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2074"/>
            <a:ext cx="10972800" cy="1508127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B9BC1E41-FE46-45CD-9A73-D4CC583D0B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0"/>
            <a:ext cx="10972800" cy="5257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60AB43-CF3C-456D-8F39-A8490223D94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7315200" y="6356350"/>
            <a:ext cx="2844800" cy="3683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>
            <a:spAutoFit/>
          </a:bodyPr>
          <a:lstStyle xmlns:a="http://schemas.openxmlformats.org/drawingml/2006/main">
            <a:lvl1pPr algn="ctr">
              <a:buNone/>
              <a:defRPr sz="1100" b="1"/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3044610e7a4e9e"/>
    <p:sldLayoutId xmlns:r="http://schemas.openxmlformats.org/officeDocument/2006/relationships" id="2147483650" r:id="R0671cebcf71f46f3"/>
    <p:sldLayoutId xmlns:r="http://schemas.openxmlformats.org/officeDocument/2006/relationships" id="2147483651" r:id="Ra07e52b98f4342bb"/>
  </p:sldLayoutIdLst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1pPr>
      <a:lvl2pPr xmlns:a="http://schemas.openxmlformats.org/drawingml/2006/main" marL="783771" marR="0" indent="-326571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2pPr>
      <a:lvl3pPr xmlns:a="http://schemas.openxmlformats.org/drawingml/2006/main" marL="1219200" marR="0" indent="-30480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3pPr>
      <a:lvl4pPr xmlns:a="http://schemas.openxmlformats.org/drawingml/2006/main" marL="17373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4pPr>
      <a:lvl5pPr xmlns:a="http://schemas.openxmlformats.org/drawingml/2006/main" marL="21945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5pPr>
      <a:lvl6pPr xmlns:a="http://schemas.openxmlformats.org/drawingml/2006/main" marL="26517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6pPr>
      <a:lvl7pPr xmlns:a="http://schemas.openxmlformats.org/drawingml/2006/main" marL="3108960" marR="0" indent="-365760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7pPr>
      <a:lvl8pPr xmlns:a="http://schemas.openxmlformats.org/drawingml/2006/main" marL="35661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8pPr>
      <a:lvl9pPr xmlns:a="http://schemas.openxmlformats.org/drawingml/2006/main" marL="4023359" marR="0" indent="-365759" algn="l" defTabSz="91440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defRPr sz="3200" b="0" i="0" u="none" strike="noStrike" cap="none" spc="0" baseline="0">
          <a:solidFill>
            <a:srgbClr val="2B1B5E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22860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27432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32004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36576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1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QFF2026">
  <a:themeElements>
    <a:clrScheme name="QFF2026">
      <a:dk1>
        <a:srgbClr val="2B1B5E"/>
      </a:dk1>
      <a:lt1>
        <a:srgbClr val="DDE2FC"/>
      </a:lt1>
      <a:dk2>
        <a:srgbClr val="A7A7A7"/>
      </a:dk2>
      <a:lt2>
        <a:srgbClr val="535353"/>
      </a:lt2>
      <a:accent1>
        <a:srgbClr val="7C93F0"/>
      </a:accent1>
      <a:accent2>
        <a:srgbClr val="E8639F"/>
      </a:accent2>
      <a:accent3>
        <a:srgbClr val="5B3BA8"/>
      </a:accent3>
      <a:accent4>
        <a:srgbClr val="6B6B9A"/>
      </a:accent4>
      <a:accent5>
        <a:srgbClr val="B9BEF0"/>
      </a:accent5>
      <a:accent6>
        <a:srgbClr val="CBD1F5"/>
      </a:accent6>
      <a:hlink>
        <a:srgbClr val="0000FF"/>
      </a:hlink>
      <a:folHlink>
        <a:srgbClr val="FF00FF"/>
      </a:folHlink>
    </a:clrScheme>
    <a:fontScheme name="QFF2026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QFF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75c5d09d744b7" /><Relationship Type="http://schemas.openxmlformats.org/officeDocument/2006/relationships/image" Target="/ppt/media/image7.png" Id="R1f643838896e4f42" /><Relationship Type="http://schemas.openxmlformats.org/officeDocument/2006/relationships/image" Target="/ppt/media/image5.png" Id="R9dcc48704aff44a4" /><Relationship Type="http://schemas.openxmlformats.org/officeDocument/2006/relationships/image" Target="/ppt/media/image6.png" Id="R50a409fb4054449f" /><Relationship Type="http://schemas.openxmlformats.org/officeDocument/2006/relationships/image" Target="/ppt/media/image8.png" Id="Re393aab9e8a84ed7" /><Relationship Type="http://schemas.openxmlformats.org/officeDocument/2006/relationships/notesSlide" Target="/ppt/notesSlides/notesSlide1.xml" Id="Ra11494dfc14942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1d872c41c54e1d" /><Relationship Type="http://schemas.openxmlformats.org/officeDocument/2006/relationships/notesSlide" Target="/ppt/notesSlides/notesSlide2.xml" Id="Rdc176df24f70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a77e6e05ee4deb" /><Relationship Type="http://schemas.openxmlformats.org/officeDocument/2006/relationships/notesSlide" Target="/ppt/notesSlides/notesSlide3.xml" Id="R6abd2a50cde34f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ccd5c1396a444b" /><Relationship Type="http://schemas.openxmlformats.org/officeDocument/2006/relationships/notesSlide" Target="/ppt/notesSlides/notesSlide4.xml" Id="Rc1aaeb7ced0f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1405f8b66a4fe4" /><Relationship Type="http://schemas.openxmlformats.org/officeDocument/2006/relationships/image" Target="/ppt/media/image9.png" Id="R93664bfbf27a45cd" /><Relationship Type="http://schemas.openxmlformats.org/officeDocument/2006/relationships/notesSlide" Target="/ppt/notesSlides/notesSlide5.xml" Id="R78fcb5ef029c41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8d9714d1ab4c36" /><Relationship Type="http://schemas.openxmlformats.org/officeDocument/2006/relationships/notesSlide" Target="/ppt/notesSlides/notesSlide6.xml" Id="R51da1d43088642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07b57af2454742" /><Relationship Type="http://schemas.openxmlformats.org/officeDocument/2006/relationships/notesSlide" Target="/ppt/notesSlides/notesSlide7.xml" Id="R100f0a1a2750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e14b76e4a64a10" /><Relationship Type="http://schemas.openxmlformats.org/officeDocument/2006/relationships/notesSlide" Target="/ppt/notesSlides/notesSlide8.xml" Id="R8063aad1c90d4e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5d718d99db42b9" /><Relationship Type="http://schemas.openxmlformats.org/officeDocument/2006/relationships/notesSlide" Target="/ppt/notesSlides/notesSlide9.xml" Id="Rc91c77a1331d42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45de7727684010" /><Relationship Type="http://schemas.openxmlformats.org/officeDocument/2006/relationships/image" Target="/ppt/media/image7.png" Id="R185a6746e1d646e8" /><Relationship Type="http://schemas.openxmlformats.org/officeDocument/2006/relationships/image" Target="/ppt/media/image5.png" Id="Ra2be136a0dad4add" /><Relationship Type="http://schemas.openxmlformats.org/officeDocument/2006/relationships/image" Target="/ppt/media/image6.png" Id="R3678a4195a464185" /><Relationship Type="http://schemas.openxmlformats.org/officeDocument/2006/relationships/image" Target="/ppt/media/image8.png" Id="R782e840da93847af" /><Relationship Type="http://schemas.openxmlformats.org/officeDocument/2006/relationships/notesSlide" Target="/ppt/notesSlides/notesSlide10.xml" Id="R11e80f9dbfd44346" /></Relationships>
</file>

<file path=ppt/slides/slide1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Text 0">
            <a:extLst xmlns:a="http://schemas.openxmlformats.org/drawingml/2006/main">
              <a:ext uri="{FF2B5EF4-FFF2-40B4-BE49-F238E27FC236}">
                <a16:creationId xmlns:a16="http://schemas.microsoft.com/office/drawing/2014/main" id="{22EEA894-8A6F-4A84-8582-6E9E7E65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236979"/>
            <a:ext cx="45720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 spc="6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PARTICIPANT PRESENTATION</a:t>
            </a:r>
          </a:p>
        </p:txBody>
      </p:sp>
      <p:sp>
        <p:nvSpPr>
          <p:cNvPr id="76" name="Text 1">
            <a:extLst xmlns:a="http://schemas.openxmlformats.org/drawingml/2006/main">
              <a:ext uri="{FF2B5EF4-FFF2-40B4-BE49-F238E27FC236}">
                <a16:creationId xmlns:a16="http://schemas.microsoft.com/office/drawing/2014/main" id="{4849E184-49D7-44E9-A4F6-0DEE0FDF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1565910"/>
            <a:ext cx="4572001" cy="800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5400" b="1"/>
            </a:lvl1pPr>
          </a:lstStyle>
          <a:p xmlns:a="http://schemas.openxmlformats.org/drawingml/2006/main">
            <a:pPr>
              <a:buNone/>
            </a:pPr>
            <a:r>
              <a:t>Qiskit</a:t>
            </a:r>
          </a:p>
        </p:txBody>
      </p:sp>
      <p:sp>
        <p:nvSpPr>
          <p:cNvPr id="77" name="Text 2">
            <a:extLst xmlns:a="http://schemas.openxmlformats.org/drawingml/2006/main">
              <a:ext uri="{FF2B5EF4-FFF2-40B4-BE49-F238E27FC236}">
                <a16:creationId xmlns:a16="http://schemas.microsoft.com/office/drawing/2014/main" id="{986B0E44-BC5E-4A75-9B8C-BD956D11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2388869"/>
            <a:ext cx="4572001" cy="800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5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Fall Fest</a:t>
            </a:r>
          </a:p>
        </p:txBody>
      </p:sp>
      <p:sp>
        <p:nvSpPr>
          <p:cNvPr id="78" name="Text 3">
            <a:extLst xmlns:a="http://schemas.openxmlformats.org/drawingml/2006/main">
              <a:ext uri="{FF2B5EF4-FFF2-40B4-BE49-F238E27FC236}">
                <a16:creationId xmlns:a16="http://schemas.microsoft.com/office/drawing/2014/main" id="{A4129E92-4FF5-4D62-A6FC-D4BEB575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3211830"/>
            <a:ext cx="4572001" cy="800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5400" b="1"/>
            </a:lvl1pPr>
          </a:lstStyle>
          <a:p xmlns:a="http://schemas.openxmlformats.org/drawingml/2006/main">
            <a:pPr>
              <a:buNone/>
            </a:pPr>
            <a:r>
              <a:t>2026</a:t>
            </a:r>
          </a:p>
        </p:txBody>
      </p:sp>
      <p:sp>
        <p:nvSpPr>
          <p:cNvPr id="79" name="Text 4">
            <a:extLst xmlns:a="http://schemas.openxmlformats.org/drawingml/2006/main">
              <a:ext uri="{FF2B5EF4-FFF2-40B4-BE49-F238E27FC236}">
                <a16:creationId xmlns:a16="http://schemas.microsoft.com/office/drawing/2014/main" id="{851D957F-0BDA-4D38-920E-B950CE03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4127499"/>
            <a:ext cx="45720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i="1" spc="1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Hackathon · Team Details</a:t>
            </a:r>
          </a:p>
        </p:txBody>
      </p:sp>
      <p:pic>
        <p:nvPicPr>
          <p:cNvPr id="80" name="Image 0">
            <a:extLst xmlns:a="http://schemas.openxmlformats.org/drawingml/2006/main">
              <a:ext uri="{FF2B5EF4-FFF2-40B4-BE49-F238E27FC236}">
                <a16:creationId xmlns:a16="http://schemas.microsoft.com/office/drawing/2014/main" id="{017DE237-50DD-4F16-8537-ADD09FA285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43838896e4f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005" y="4396044"/>
            <a:ext cx="1800287" cy="180028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81" name="Image 1">
            <a:extLst xmlns:a="http://schemas.openxmlformats.org/drawingml/2006/main">
              <a:ext uri="{FF2B5EF4-FFF2-40B4-BE49-F238E27FC236}">
                <a16:creationId xmlns:a16="http://schemas.microsoft.com/office/drawing/2014/main" id="{C5EA78C4-C371-4A9F-8047-AA0B5A9CFF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c48704aff44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2322" y="4563512"/>
            <a:ext cx="895957" cy="53757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82" name="Image 2">
            <a:extLst xmlns:a="http://schemas.openxmlformats.org/drawingml/2006/main">
              <a:ext uri="{FF2B5EF4-FFF2-40B4-BE49-F238E27FC236}">
                <a16:creationId xmlns:a16="http://schemas.microsoft.com/office/drawing/2014/main" id="{9BE2F782-D98A-4CCD-8B8E-9AC9E9258A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409fb4054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76892" y="5233385"/>
            <a:ext cx="628007" cy="37680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83" name="Image 3">
            <a:extLst xmlns:a="http://schemas.openxmlformats.org/drawingml/2006/main">
              <a:ext uri="{FF2B5EF4-FFF2-40B4-BE49-F238E27FC236}">
                <a16:creationId xmlns:a16="http://schemas.microsoft.com/office/drawing/2014/main" id="{16F112D3-EED2-4137-995D-14B6F583D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3aab9e8a84e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0031" y="5677177"/>
            <a:ext cx="485659" cy="29139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84" name="Text 5">
            <a:extLst xmlns:a="http://schemas.openxmlformats.org/drawingml/2006/main">
              <a:ext uri="{FF2B5EF4-FFF2-40B4-BE49-F238E27FC236}">
                <a16:creationId xmlns:a16="http://schemas.microsoft.com/office/drawing/2014/main" id="{6B4F08BE-5416-4D44-AA23-A08505A1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102360"/>
            <a:ext cx="6217921" cy="3556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Participant Details</a:t>
            </a:r>
          </a:p>
        </p:txBody>
      </p:sp>
      <p:sp>
        <p:nvSpPr>
          <p:cNvPr id="85" name="Shape 6">
            <a:extLst xmlns:a="http://schemas.openxmlformats.org/drawingml/2006/main">
              <a:ext uri="{FF2B5EF4-FFF2-40B4-BE49-F238E27FC236}">
                <a16:creationId xmlns:a16="http://schemas.microsoft.com/office/drawing/2014/main" id="{42B2D8DC-17A2-4C66-A7C4-95D0118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1645920"/>
            <a:ext cx="6236209" cy="530353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6" name="Text 7">
            <a:extLst xmlns:a="http://schemas.openxmlformats.org/drawingml/2006/main">
              <a:ext uri="{FF2B5EF4-FFF2-40B4-BE49-F238E27FC236}">
                <a16:creationId xmlns:a16="http://schemas.microsoft.com/office/drawing/2014/main" id="{E6379B06-99C7-47C7-A931-06D288F7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1700783"/>
            <a:ext cx="5980178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PROJECT TITLE</a:t>
            </a:r>
          </a:p>
          <a:p xmlns:a="http://schemas.openxmlformats.org/drawingml/2006/main">
            <a:pPr>
              <a:buNone/>
              <a:defRPr sz="1100" i="1"/>
            </a:pPr>
            <a:r>
              <a:t>Q-Charge Fair</a:t>
            </a:r>
          </a:p>
        </p:txBody>
      </p:sp>
      <p:sp>
        <p:nvSpPr>
          <p:cNvPr id="87" name="Shape 8">
            <a:extLst xmlns:a="http://schemas.openxmlformats.org/drawingml/2006/main">
              <a:ext uri="{FF2B5EF4-FFF2-40B4-BE49-F238E27FC236}">
                <a16:creationId xmlns:a16="http://schemas.microsoft.com/office/drawing/2014/main" id="{F56585A8-07A8-4F77-A3AA-0A716696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258567"/>
            <a:ext cx="30175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88" name="Text 9">
            <a:extLst xmlns:a="http://schemas.openxmlformats.org/drawingml/2006/main">
              <a:ext uri="{FF2B5EF4-FFF2-40B4-BE49-F238E27FC236}">
                <a16:creationId xmlns:a16="http://schemas.microsoft.com/office/drawing/2014/main" id="{C0DB991E-7A4C-4757-8DCC-41C7102B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2313432"/>
            <a:ext cx="276149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NAME</a:t>
            </a:r>
          </a:p>
          <a:p xmlns:a="http://schemas.openxmlformats.org/drawingml/2006/main">
            <a:pPr>
              <a:buNone/>
              <a:defRPr sz="1100" i="1"/>
            </a:pPr>
            <a:r>
              <a:t>Qubits Nexus</a:t>
            </a:r>
          </a:p>
        </p:txBody>
      </p:sp>
      <p:sp>
        <p:nvSpPr>
          <p:cNvPr id="89" name="Shape 10">
            <a:extLst xmlns:a="http://schemas.openxmlformats.org/drawingml/2006/main">
              <a:ext uri="{FF2B5EF4-FFF2-40B4-BE49-F238E27FC236}">
                <a16:creationId xmlns:a16="http://schemas.microsoft.com/office/drawing/2014/main" id="{C4CB8968-2893-43B9-B915-A2734E66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258567"/>
            <a:ext cx="3044953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0" name="Text 11">
            <a:extLst xmlns:a="http://schemas.openxmlformats.org/drawingml/2006/main">
              <a:ext uri="{FF2B5EF4-FFF2-40B4-BE49-F238E27FC236}">
                <a16:creationId xmlns:a16="http://schemas.microsoft.com/office/drawing/2014/main" id="{2E3C5E00-9735-4C7D-8AB7-B628D6D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313432"/>
            <a:ext cx="278892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ID</a:t>
            </a:r>
          </a:p>
          <a:p xmlns:a="http://schemas.openxmlformats.org/drawingml/2006/main">
            <a:pPr>
              <a:buNone/>
              <a:defRPr sz="1100" i="1"/>
            </a:pPr>
            <a:r>
              <a:t>VTU-QFF-HC-0029</a:t>
            </a:r>
          </a:p>
        </p:txBody>
      </p:sp>
      <p:sp>
        <p:nvSpPr>
          <p:cNvPr id="91" name="Shape 12">
            <a:extLst xmlns:a="http://schemas.openxmlformats.org/drawingml/2006/main">
              <a:ext uri="{FF2B5EF4-FFF2-40B4-BE49-F238E27FC236}">
                <a16:creationId xmlns:a16="http://schemas.microsoft.com/office/drawing/2014/main" id="{F356FE20-39F9-4419-B056-99A3690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2843783"/>
            <a:ext cx="30175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Text 13">
            <a:extLst xmlns:a="http://schemas.openxmlformats.org/drawingml/2006/main">
              <a:ext uri="{FF2B5EF4-FFF2-40B4-BE49-F238E27FC236}">
                <a16:creationId xmlns:a16="http://schemas.microsoft.com/office/drawing/2014/main" id="{D65068DC-9A2A-41FE-AEED-717FCD75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2898648"/>
            <a:ext cx="276149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LEADER</a:t>
            </a:r>
          </a:p>
          <a:p xmlns:a="http://schemas.openxmlformats.org/drawingml/2006/main">
            <a:pPr>
              <a:buNone/>
              <a:defRPr sz="1100" i="1"/>
            </a:pPr>
            <a:r>
              <a:t>Aliya Mulla</a:t>
            </a:r>
          </a:p>
        </p:txBody>
      </p:sp>
      <p:sp>
        <p:nvSpPr>
          <p:cNvPr id="93" name="Shape 14">
            <a:extLst xmlns:a="http://schemas.openxmlformats.org/drawingml/2006/main">
              <a:ext uri="{FF2B5EF4-FFF2-40B4-BE49-F238E27FC236}">
                <a16:creationId xmlns:a16="http://schemas.microsoft.com/office/drawing/2014/main" id="{10DF9710-C7A6-4352-BC02-8A5853F0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843783"/>
            <a:ext cx="3044953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4" name="Text 15">
            <a:extLst xmlns:a="http://schemas.openxmlformats.org/drawingml/2006/main">
              <a:ext uri="{FF2B5EF4-FFF2-40B4-BE49-F238E27FC236}">
                <a16:creationId xmlns:a16="http://schemas.microsoft.com/office/drawing/2014/main" id="{301C93CA-8789-43F8-A51F-633A5EFA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898648"/>
            <a:ext cx="278892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EMAIL / CONTACT</a:t>
            </a:r>
          </a:p>
          <a:p xmlns:a="http://schemas.openxmlformats.org/drawingml/2006/main">
            <a:pPr>
              <a:buNone/>
              <a:defRPr sz="1100" i="1"/>
            </a:pPr>
            <a:r>
              <a:t>aliyamulla098@gmail.com</a:t>
            </a:r>
          </a:p>
        </p:txBody>
      </p:sp>
      <p:sp>
        <p:nvSpPr>
          <p:cNvPr id="95" name="Shape 16">
            <a:extLst xmlns:a="http://schemas.openxmlformats.org/drawingml/2006/main">
              <a:ext uri="{FF2B5EF4-FFF2-40B4-BE49-F238E27FC236}">
                <a16:creationId xmlns:a16="http://schemas.microsoft.com/office/drawing/2014/main" id="{29CD2653-AE2B-444F-A7B7-F3A2326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3429000"/>
            <a:ext cx="6236209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6" name="Text 17">
            <a:extLst xmlns:a="http://schemas.openxmlformats.org/drawingml/2006/main">
              <a:ext uri="{FF2B5EF4-FFF2-40B4-BE49-F238E27FC236}">
                <a16:creationId xmlns:a16="http://schemas.microsoft.com/office/drawing/2014/main" id="{3E8AD7D2-04B7-4D6F-BC52-806C8EF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3483864"/>
            <a:ext cx="5980178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TRACK</a:t>
            </a:r>
          </a:p>
          <a:p xmlns:a="http://schemas.openxmlformats.org/drawingml/2006/main">
            <a:pPr>
              <a:buNone/>
              <a:defRPr sz="1100" i="1"/>
            </a:pPr>
            <a:r>
              <a:t>Quantum Applications for Climate Change and Sustainability</a:t>
            </a:r>
          </a:p>
        </p:txBody>
      </p:sp>
      <p:sp>
        <p:nvSpPr>
          <p:cNvPr id="97" name="Shape 18">
            <a:extLst xmlns:a="http://schemas.openxmlformats.org/drawingml/2006/main">
              <a:ext uri="{FF2B5EF4-FFF2-40B4-BE49-F238E27FC236}">
                <a16:creationId xmlns:a16="http://schemas.microsoft.com/office/drawing/2014/main" id="{9CD7320F-98F0-4BE4-A13F-96B695AB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014215"/>
            <a:ext cx="30175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8" name="Text 19">
            <a:extLst xmlns:a="http://schemas.openxmlformats.org/drawingml/2006/main">
              <a:ext uri="{FF2B5EF4-FFF2-40B4-BE49-F238E27FC236}">
                <a16:creationId xmlns:a16="http://schemas.microsoft.com/office/drawing/2014/main" id="{2A875FA0-260E-415F-915A-4B0EBCA8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4069079"/>
            <a:ext cx="276149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EVENT</a:t>
            </a:r>
          </a:p>
          <a:p xmlns:a="http://schemas.openxmlformats.org/drawingml/2006/main">
            <a:pPr>
              <a:buNone/>
              <a:defRPr sz="1100" i="1"/>
            </a:pPr>
            <a:r>
              <a:t>VTU-Qiskit Fall Fest 2026</a:t>
            </a:r>
          </a:p>
        </p:txBody>
      </p:sp>
      <p:sp>
        <p:nvSpPr>
          <p:cNvPr id="99" name="Shape 20">
            <a:extLst xmlns:a="http://schemas.openxmlformats.org/drawingml/2006/main">
              <a:ext uri="{FF2B5EF4-FFF2-40B4-BE49-F238E27FC236}">
                <a16:creationId xmlns:a16="http://schemas.microsoft.com/office/drawing/2014/main" id="{E3B3673F-5331-442F-9926-F26A889B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014215"/>
            <a:ext cx="3044953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0" name="Text 21">
            <a:extLst xmlns:a="http://schemas.openxmlformats.org/drawingml/2006/main">
              <a:ext uri="{FF2B5EF4-FFF2-40B4-BE49-F238E27FC236}">
                <a16:creationId xmlns:a16="http://schemas.microsoft.com/office/drawing/2014/main" id="{7DE587BA-B4C1-42D2-A3B1-0305CF50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4069079"/>
            <a:ext cx="278892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TIER</a:t>
            </a:r>
          </a:p>
          <a:p xmlns:a="http://schemas.openxmlformats.org/drawingml/2006/main">
            <a:pPr>
              <a:buNone/>
              <a:defRPr sz="1100" i="1"/>
            </a:pPr>
            <a:r>
              <a:t>Online</a:t>
            </a:r>
          </a:p>
        </p:txBody>
      </p:sp>
      <p:sp>
        <p:nvSpPr>
          <p:cNvPr id="101" name="Shape 22">
            <a:extLst xmlns:a="http://schemas.openxmlformats.org/drawingml/2006/main">
              <a:ext uri="{FF2B5EF4-FFF2-40B4-BE49-F238E27FC236}">
                <a16:creationId xmlns:a16="http://schemas.microsoft.com/office/drawing/2014/main" id="{E9DDA03C-1FF9-495D-ACF8-60EC91AF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599432"/>
            <a:ext cx="6236209" cy="914401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" name="Text 23">
            <a:extLst xmlns:a="http://schemas.openxmlformats.org/drawingml/2006/main">
              <a:ext uri="{FF2B5EF4-FFF2-40B4-BE49-F238E27FC236}">
                <a16:creationId xmlns:a16="http://schemas.microsoft.com/office/drawing/2014/main" id="{2754B0C0-46E1-4213-8F2D-3E2B96B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4654296"/>
            <a:ext cx="5980178" cy="584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MEMBERS · GITHUB ID</a:t>
            </a:r>
          </a:p>
          <a:p xmlns:a="http://schemas.openxmlformats.org/drawingml/2006/main">
            <a:pPr>
              <a:buNone/>
              <a:defRPr sz="1100" i="1"/>
            </a:pPr>
            <a:r>
              <a:t>Aliya Mulla — Team Leader · aliyamulla098-spec</a:t>
            </a:r>
            <a:endParaRPr sz="800"/>
          </a:p>
          <a:p xmlns:a="http://schemas.openxmlformats.org/drawingml/2006/main">
            <a:pPr>
              <a:buNone/>
              <a:defRPr sz="1100" i="1"/>
            </a:pPr>
            <a:r>
              <a:t>Arsin Imtiyaz Karadagi · Arsinkaradagi</a:t>
            </a:r>
            <a:endParaRPr sz="800"/>
          </a:p>
          <a:p xmlns:a="http://schemas.openxmlformats.org/drawingml/2006/main">
            <a:pPr>
              <a:buNone/>
              <a:defRPr sz="1100" i="1"/>
            </a:pPr>
            <a:r>
              <a:t>Zaveerya Mulla · ZaveeryaMulla</a:t>
            </a:r>
          </a:p>
        </p:txBody>
      </p:sp>
      <p:sp>
        <p:nvSpPr>
          <p:cNvPr id="103" name="Shape 24">
            <a:extLst xmlns:a="http://schemas.openxmlformats.org/drawingml/2006/main">
              <a:ext uri="{FF2B5EF4-FFF2-40B4-BE49-F238E27FC236}">
                <a16:creationId xmlns:a16="http://schemas.microsoft.com/office/drawing/2014/main" id="{63361281-AE70-4A80-A89B-FF5360B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5596128"/>
            <a:ext cx="39319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4" name="Text 25">
            <a:extLst xmlns:a="http://schemas.openxmlformats.org/drawingml/2006/main">
              <a:ext uri="{FF2B5EF4-FFF2-40B4-BE49-F238E27FC236}">
                <a16:creationId xmlns:a16="http://schemas.microsoft.com/office/drawing/2014/main" id="{6DB10C38-8D6A-4E56-B369-70AAC437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5650991"/>
            <a:ext cx="3675890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INSTITUTION / ORGANISATION</a:t>
            </a:r>
          </a:p>
          <a:p xmlns:a="http://schemas.openxmlformats.org/drawingml/2006/main">
            <a:pPr>
              <a:buNone/>
              <a:defRPr sz="1100" i="1"/>
            </a:pPr>
            <a:r>
              <a:t>Visvesvaraya Technological University</a:t>
            </a:r>
          </a:p>
        </p:txBody>
      </p:sp>
      <p:sp>
        <p:nvSpPr>
          <p:cNvPr id="105" name="Shape 26">
            <a:extLst xmlns:a="http://schemas.openxmlformats.org/drawingml/2006/main">
              <a:ext uri="{FF2B5EF4-FFF2-40B4-BE49-F238E27FC236}">
                <a16:creationId xmlns:a16="http://schemas.microsoft.com/office/drawing/2014/main" id="{4D9FC8AC-0270-48F7-87D6-5EB9F863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96128"/>
            <a:ext cx="2130553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6" name="Text 27">
            <a:extLst xmlns:a="http://schemas.openxmlformats.org/drawingml/2006/main">
              <a:ext uri="{FF2B5EF4-FFF2-40B4-BE49-F238E27FC236}">
                <a16:creationId xmlns:a16="http://schemas.microsoft.com/office/drawing/2014/main" id="{576FB781-474D-4229-9460-7B9B662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5650991"/>
            <a:ext cx="1874521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COUNTRY</a:t>
            </a:r>
          </a:p>
          <a:p xmlns:a="http://schemas.openxmlformats.org/drawingml/2006/main">
            <a:pPr>
              <a:buNone/>
              <a:defRPr sz="1100" i="1"/>
            </a:pPr>
            <a:r>
              <a:t>India</a:t>
            </a:r>
          </a:p>
        </p:txBody>
      </p:sp>
    </p:spTree>
    <p:extLst>
      <p:ext uri="{BB962C8B-B14F-4D97-AF65-F5344CB8AC3E}">
        <p14:creationId xmlns:p14="http://schemas.microsoft.com/office/powerpoint/2010/main" val="1180219665"/>
      </p:ext>
    </p:extLst>
  </p:cSld>
</p:sld>
</file>

<file path=ppt/slides/slide2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Text 16">
            <a:extLst xmlns:a="http://schemas.openxmlformats.org/drawingml/2006/main">
              <a:ext uri="{FF2B5EF4-FFF2-40B4-BE49-F238E27FC236}">
                <a16:creationId xmlns:a16="http://schemas.microsoft.com/office/drawing/2014/main" id="{6CAD315A-CA88-449E-BD0A-8E1B56750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The Challenge</a:t>
            </a:r>
          </a:p>
        </p:txBody>
      </p:sp>
      <p:sp>
        <p:nvSpPr>
          <p:cNvPr id="109" name="Shape 1">
            <a:extLst xmlns:a="http://schemas.openxmlformats.org/drawingml/2006/main">
              <a:ext uri="{FF2B5EF4-FFF2-40B4-BE49-F238E27FC236}">
                <a16:creationId xmlns:a16="http://schemas.microsoft.com/office/drawing/2014/main" id="{57DDEBD8-D9FE-425D-A883-CCA4575C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0" name="Shape 2">
            <a:extLst xmlns:a="http://schemas.openxmlformats.org/drawingml/2006/main">
              <a:ext uri="{FF2B5EF4-FFF2-40B4-BE49-F238E27FC236}">
                <a16:creationId xmlns:a16="http://schemas.microsoft.com/office/drawing/2014/main" id="{A563D04C-2FDF-4AE6-BEB9-62FC816B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1" name="Text 3">
            <a:extLst xmlns:a="http://schemas.openxmlformats.org/drawingml/2006/main">
              <a:ext uri="{FF2B5EF4-FFF2-40B4-BE49-F238E27FC236}">
                <a16:creationId xmlns:a16="http://schemas.microsoft.com/office/drawing/2014/main" id="{4404A8E3-0584-495A-B661-719CC1D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79"/>
            <a:ext cx="10424160" cy="142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400"/>
            </a:pPr>
            <a:r>
              <a:t>EV charging stations operate under limited grid capacity and must serve vehicles with different energy requirements and departure deadlines.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400"/>
            </a:pPr>
            <a:r>
              <a:t>Conventional scheduling can create peak electricity demand, leave charging needs unmet, and distribute available charging capacity unfairly.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400"/>
            </a:pPr>
            <a:r>
              <a:t>Finding a schedule that balances grid constraints, energy demand, deadlines, and fairness is a constrained optimization problem.</a:t>
            </a:r>
          </a:p>
        </p:txBody>
      </p:sp>
      <p:sp>
        <p:nvSpPr>
          <p:cNvPr id="112" name="Shape 4">
            <a:extLst xmlns:a="http://schemas.openxmlformats.org/drawingml/2006/main">
              <a:ext uri="{FF2B5EF4-FFF2-40B4-BE49-F238E27FC236}">
                <a16:creationId xmlns:a16="http://schemas.microsoft.com/office/drawing/2014/main" id="{7C77C54B-BDA8-4D43-98E9-2C63AD0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89120"/>
            <a:ext cx="10515601" cy="1508761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3" name="Shape 5">
            <a:extLst xmlns:a="http://schemas.openxmlformats.org/drawingml/2006/main">
              <a:ext uri="{FF2B5EF4-FFF2-40B4-BE49-F238E27FC236}">
                <a16:creationId xmlns:a16="http://schemas.microsoft.com/office/drawing/2014/main" id="{6DB2554A-C869-48AF-A09D-A603C25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26279"/>
            <a:ext cx="73153" cy="1234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14" name="Text 6">
            <a:extLst xmlns:a="http://schemas.openxmlformats.org/drawingml/2006/main">
              <a:ext uri="{FF2B5EF4-FFF2-40B4-BE49-F238E27FC236}">
                <a16:creationId xmlns:a16="http://schemas.microsoft.com/office/drawing/2014/main" id="{9B263DEF-BF4F-4C66-BCEA-EFB72E0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4445"/>
            <a:ext cx="4572000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000" b="1" spc="3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WE BUILT</a:t>
            </a:r>
          </a:p>
        </p:txBody>
      </p:sp>
      <p:sp>
        <p:nvSpPr>
          <p:cNvPr id="115" name="Text 7">
            <a:extLst xmlns:a="http://schemas.openxmlformats.org/drawingml/2006/main">
              <a:ext uri="{FF2B5EF4-FFF2-40B4-BE49-F238E27FC236}">
                <a16:creationId xmlns:a16="http://schemas.microsoft.com/office/drawing/2014/main" id="{8575DEEF-3A69-490C-A3BB-1C4E8F06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28032"/>
            <a:ext cx="9966960" cy="42672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1400" b="1"/>
            </a:lvl1pPr>
          </a:lstStyle>
          <a:p xmlns:a="http://schemas.openxmlformats.org/drawingml/2006/main">
            <a:pPr>
              <a:buNone/>
            </a:pPr>
            <a:r>
              <a:t>A Streamlit prototype pairs an interactive classical greedy scheduler with a separate QAOA demonstration. The QAOA example uses a fixed two-EV, one-slot model and a local statevector simulator.</a:t>
            </a:r>
          </a:p>
        </p:txBody>
      </p:sp>
      <p:sp>
        <p:nvSpPr>
          <p:cNvPr id="11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4955EA8-9464-4EBE-81A6-7168C6ED744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223988835"/>
      </p:ext>
    </p:extLst>
  </p:cSld>
</p:sld>
</file>

<file path=ppt/slides/slide3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Text 16">
            <a:extLst xmlns:a="http://schemas.openxmlformats.org/drawingml/2006/main">
              <a:ext uri="{FF2B5EF4-FFF2-40B4-BE49-F238E27FC236}">
                <a16:creationId xmlns:a16="http://schemas.microsoft.com/office/drawing/2014/main" id="{782755A8-7B28-46DC-90EE-B6BDA0B7C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Objectives &amp; Novelty</a:t>
            </a:r>
          </a:p>
        </p:txBody>
      </p:sp>
      <p:sp>
        <p:nvSpPr>
          <p:cNvPr id="119" name="Shape 1">
            <a:extLst xmlns:a="http://schemas.openxmlformats.org/drawingml/2006/main">
              <a:ext uri="{FF2B5EF4-FFF2-40B4-BE49-F238E27FC236}">
                <a16:creationId xmlns:a16="http://schemas.microsoft.com/office/drawing/2014/main" id="{428C0F6E-A1A1-4C07-9A99-F7A76641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0" name="Shape 2">
            <a:extLst xmlns:a="http://schemas.openxmlformats.org/drawingml/2006/main">
              <a:ext uri="{FF2B5EF4-FFF2-40B4-BE49-F238E27FC236}">
                <a16:creationId xmlns:a16="http://schemas.microsoft.com/office/drawing/2014/main" id="{C38D6CCB-2DAE-4F1B-B814-934CA0C4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1" name="Text 3">
            <a:extLst xmlns:a="http://schemas.openxmlformats.org/drawingml/2006/main">
              <a:ext uri="{FF2B5EF4-FFF2-40B4-BE49-F238E27FC236}">
                <a16:creationId xmlns:a16="http://schemas.microsoft.com/office/drawing/2014/main" id="{EB21BCFD-3F22-4D93-8222-8AC56749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04439"/>
            <a:ext cx="50292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Objectives Addressed</a:t>
            </a:r>
          </a:p>
        </p:txBody>
      </p:sp>
      <p:sp>
        <p:nvSpPr>
          <p:cNvPr id="122" name="Text 4">
            <a:extLst xmlns:a="http://schemas.openxmlformats.org/drawingml/2006/main">
              <a:ext uri="{FF2B5EF4-FFF2-40B4-BE49-F238E27FC236}">
                <a16:creationId xmlns:a16="http://schemas.microsoft.com/office/drawing/2014/main" id="{1DEAE2B5-9C0F-4DFB-B1AB-E8ACFD3C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029201" cy="154432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Demonstrate a binary charging model with a grid cap.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Reward charging for higher-priority EVs.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Compare the app’s classical scheduler with a separate, fixed QAOA example.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Report metrics available in the prototype.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Treat quantum advantage as an open research question.</a:t>
            </a:r>
          </a:p>
        </p:txBody>
      </p:sp>
      <p:sp>
        <p:nvSpPr>
          <p:cNvPr id="123" name="Shape 5">
            <a:extLst xmlns:a="http://schemas.openxmlformats.org/drawingml/2006/main">
              <a:ext uri="{FF2B5EF4-FFF2-40B4-BE49-F238E27FC236}">
                <a16:creationId xmlns:a16="http://schemas.microsoft.com/office/drawing/2014/main" id="{40593947-37CD-450F-87FB-7E5232B5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35040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24" name="Text 6">
            <a:extLst xmlns:a="http://schemas.openxmlformats.org/drawingml/2006/main">
              <a:ext uri="{FF2B5EF4-FFF2-40B4-BE49-F238E27FC236}">
                <a16:creationId xmlns:a16="http://schemas.microsoft.com/office/drawing/2014/main" id="{7543E46D-CCB1-42D4-A9CB-83B1355B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04439"/>
            <a:ext cx="512064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Makes Q-Charge Fair Different?</a:t>
            </a:r>
          </a:p>
        </p:txBody>
      </p:sp>
      <p:sp>
        <p:nvSpPr>
          <p:cNvPr id="125" name="Text 7">
            <a:extLst xmlns:a="http://schemas.openxmlformats.org/drawingml/2006/main">
              <a:ext uri="{FF2B5EF4-FFF2-40B4-BE49-F238E27FC236}">
                <a16:creationId xmlns:a16="http://schemas.microsoft.com/office/drawing/2014/main" id="{BA9831B0-E08F-423C-9DE1-573E66A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880360"/>
            <a:ext cx="5074921" cy="1168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Pairs an interactive Streamlit scheduler with a small Qiskit QAOA demonstration.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The QAOA example uses a fixed two-EV, one-slot scenario.</a:t>
            </a:r>
          </a:p>
          <a:p xmlns:a="http://schemas.openxmlformats.org/drawingml/2006/main">
            <a:pPr marL="177800" indent="-177800">
              <a:spcBef>
                <a:spcPts val="700"/>
              </a:spcBef>
              <a:buSzPct val="100000"/>
              <a:buChar char="•"/>
              <a:defRPr sz="1300"/>
            </a:pPr>
            <a:r>
              <a:t>Presents prototype outputs as an experiment without claiming quantum advantage.</a:t>
            </a:r>
          </a:p>
        </p:txBody>
      </p:sp>
      <p:sp>
        <p:nvSpPr>
          <p:cNvPr id="126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69D0E61-9087-4279-AA74-1EEF1AB3D42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0068798"/>
      </p:ext>
    </p:extLst>
  </p:cSld>
</p:sld>
</file>

<file path=ppt/slides/slide4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Text 16">
            <a:extLst xmlns:a="http://schemas.openxmlformats.org/drawingml/2006/main">
              <a:ext uri="{FF2B5EF4-FFF2-40B4-BE49-F238E27FC236}">
                <a16:creationId xmlns:a16="http://schemas.microsoft.com/office/drawing/2014/main" id="{797BB44A-C55B-4B86-A582-EB27D04114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Our Solution</a:t>
            </a:r>
          </a:p>
        </p:txBody>
      </p:sp>
      <p:sp>
        <p:nvSpPr>
          <p:cNvPr id="129" name="Shape 1">
            <a:extLst xmlns:a="http://schemas.openxmlformats.org/drawingml/2006/main">
              <a:ext uri="{FF2B5EF4-FFF2-40B4-BE49-F238E27FC236}">
                <a16:creationId xmlns:a16="http://schemas.microsoft.com/office/drawing/2014/main" id="{535C306F-A7D2-47A9-B478-7962100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0" name="Shape 2">
            <a:extLst xmlns:a="http://schemas.openxmlformats.org/drawingml/2006/main">
              <a:ext uri="{FF2B5EF4-FFF2-40B4-BE49-F238E27FC236}">
                <a16:creationId xmlns:a16="http://schemas.microsoft.com/office/drawing/2014/main" id="{785F0B2A-EF09-48F2-A8BA-904B784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1" name="Shape 3">
            <a:extLst xmlns:a="http://schemas.openxmlformats.org/drawingml/2006/main">
              <a:ext uri="{FF2B5EF4-FFF2-40B4-BE49-F238E27FC236}">
                <a16:creationId xmlns:a16="http://schemas.microsoft.com/office/drawing/2014/main" id="{90F53351-804F-4209-820A-AB373BE3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50592"/>
            <a:ext cx="13716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2" name="Text 4">
            <a:extLst xmlns:a="http://schemas.openxmlformats.org/drawingml/2006/main">
              <a:ext uri="{FF2B5EF4-FFF2-40B4-BE49-F238E27FC236}">
                <a16:creationId xmlns:a16="http://schemas.microsoft.com/office/drawing/2014/main" id="{AC026792-EB63-430C-B011-B261051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4300"/>
            <a:ext cx="13716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  MODEL</a:t>
            </a:r>
          </a:p>
        </p:txBody>
      </p:sp>
      <p:sp>
        <p:nvSpPr>
          <p:cNvPr id="133" name="Shape 5">
            <a:extLst xmlns:a="http://schemas.openxmlformats.org/drawingml/2006/main">
              <a:ext uri="{FF2B5EF4-FFF2-40B4-BE49-F238E27FC236}">
                <a16:creationId xmlns:a16="http://schemas.microsoft.com/office/drawing/2014/main" id="{56C8B472-1A7B-4F02-9FE2-B142A305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50592"/>
            <a:ext cx="43434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4" name="Text 6">
            <a:extLst xmlns:a="http://schemas.openxmlformats.org/drawingml/2006/main">
              <a:ext uri="{FF2B5EF4-FFF2-40B4-BE49-F238E27FC236}">
                <a16:creationId xmlns:a16="http://schemas.microsoft.com/office/drawing/2014/main" id="{D1139174-77FF-4155-B199-D13F9F34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667000"/>
            <a:ext cx="4160521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Represented EV charging decisions as binary variables.</a:t>
            </a:r>
          </a:p>
        </p:txBody>
      </p:sp>
      <p:sp>
        <p:nvSpPr>
          <p:cNvPr id="135" name="Shape 7">
            <a:extLst xmlns:a="http://schemas.openxmlformats.org/drawingml/2006/main">
              <a:ext uri="{FF2B5EF4-FFF2-40B4-BE49-F238E27FC236}">
                <a16:creationId xmlns:a16="http://schemas.microsoft.com/office/drawing/2014/main" id="{034BF747-CCA9-4234-8801-F0AF472B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752" y="3063239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6" name="Shape 8">
            <a:extLst xmlns:a="http://schemas.openxmlformats.org/drawingml/2006/main">
              <a:ext uri="{FF2B5EF4-FFF2-40B4-BE49-F238E27FC236}">
                <a16:creationId xmlns:a16="http://schemas.microsoft.com/office/drawing/2014/main" id="{6ABB5385-5CEA-4D8D-A438-5D9A931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54679"/>
            <a:ext cx="13716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7" name="Text 9">
            <a:extLst xmlns:a="http://schemas.openxmlformats.org/drawingml/2006/main">
              <a:ext uri="{FF2B5EF4-FFF2-40B4-BE49-F238E27FC236}">
                <a16:creationId xmlns:a16="http://schemas.microsoft.com/office/drawing/2014/main" id="{F245A792-5FF5-410F-A7BB-3D9C8059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8387"/>
            <a:ext cx="13716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  OPTIMIZE</a:t>
            </a:r>
          </a:p>
        </p:txBody>
      </p:sp>
      <p:sp>
        <p:nvSpPr>
          <p:cNvPr id="138" name="Shape 10">
            <a:extLst xmlns:a="http://schemas.openxmlformats.org/drawingml/2006/main">
              <a:ext uri="{FF2B5EF4-FFF2-40B4-BE49-F238E27FC236}">
                <a16:creationId xmlns:a16="http://schemas.microsoft.com/office/drawing/2014/main" id="{4560C381-289D-4D34-A710-A8FA18A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154679"/>
            <a:ext cx="43434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9" name="Text 11">
            <a:extLst xmlns:a="http://schemas.openxmlformats.org/drawingml/2006/main">
              <a:ext uri="{FF2B5EF4-FFF2-40B4-BE49-F238E27FC236}">
                <a16:creationId xmlns:a16="http://schemas.microsoft.com/office/drawing/2014/main" id="{C934AAF5-5A24-46A7-852D-EB0C68AF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294887"/>
            <a:ext cx="4160521" cy="304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Formulated a constrained binary optimization problem and converted it into a QUBO/Ising representation.</a:t>
            </a:r>
          </a:p>
        </p:txBody>
      </p:sp>
      <p:sp>
        <p:nvSpPr>
          <p:cNvPr id="140" name="Shape 12">
            <a:extLst xmlns:a="http://schemas.openxmlformats.org/drawingml/2006/main">
              <a:ext uri="{FF2B5EF4-FFF2-40B4-BE49-F238E27FC236}">
                <a16:creationId xmlns:a16="http://schemas.microsoft.com/office/drawing/2014/main" id="{AD6C3076-29BF-41B6-A0AB-E6B3D51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752" y="3767328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1" name="Shape 13">
            <a:extLst xmlns:a="http://schemas.openxmlformats.org/drawingml/2006/main">
              <a:ext uri="{FF2B5EF4-FFF2-40B4-BE49-F238E27FC236}">
                <a16:creationId xmlns:a16="http://schemas.microsoft.com/office/drawing/2014/main" id="{898A2B49-19FD-4002-AAF5-5656D121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58767"/>
            <a:ext cx="13716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2" name="Text 14">
            <a:extLst xmlns:a="http://schemas.openxmlformats.org/drawingml/2006/main">
              <a:ext uri="{FF2B5EF4-FFF2-40B4-BE49-F238E27FC236}">
                <a16:creationId xmlns:a16="http://schemas.microsoft.com/office/drawing/2014/main" id="{C257A50D-E6AD-4C89-BDB2-17929996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62475"/>
            <a:ext cx="13716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  SOLVE</a:t>
            </a:r>
          </a:p>
        </p:txBody>
      </p:sp>
      <p:sp>
        <p:nvSpPr>
          <p:cNvPr id="143" name="Shape 15">
            <a:extLst xmlns:a="http://schemas.openxmlformats.org/drawingml/2006/main">
              <a:ext uri="{FF2B5EF4-FFF2-40B4-BE49-F238E27FC236}">
                <a16:creationId xmlns:a16="http://schemas.microsoft.com/office/drawing/2014/main" id="{88EC11FE-880A-4127-B568-1300C63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858767"/>
            <a:ext cx="43434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4" name="Text 16">
            <a:extLst xmlns:a="http://schemas.openxmlformats.org/drawingml/2006/main">
              <a:ext uri="{FF2B5EF4-FFF2-40B4-BE49-F238E27FC236}">
                <a16:creationId xmlns:a16="http://schemas.microsoft.com/office/drawing/2014/main" id="{4BB62D07-766A-492C-B983-7BB81A5F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998975"/>
            <a:ext cx="4160521" cy="304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Implemented QAOA with Qiskit to generate candidate charging schedules.</a:t>
            </a:r>
          </a:p>
        </p:txBody>
      </p:sp>
      <p:sp>
        <p:nvSpPr>
          <p:cNvPr id="145" name="Shape 17">
            <a:extLst xmlns:a="http://schemas.openxmlformats.org/drawingml/2006/main">
              <a:ext uri="{FF2B5EF4-FFF2-40B4-BE49-F238E27FC236}">
                <a16:creationId xmlns:a16="http://schemas.microsoft.com/office/drawing/2014/main" id="{A0A57546-5EF0-4AD4-911D-CDD87F72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752" y="4471415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6" name="Shape 18">
            <a:extLst xmlns:a="http://schemas.openxmlformats.org/drawingml/2006/main">
              <a:ext uri="{FF2B5EF4-FFF2-40B4-BE49-F238E27FC236}">
                <a16:creationId xmlns:a16="http://schemas.microsoft.com/office/drawing/2014/main" id="{1AAD4B52-85A0-4ED6-A498-2826DB49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62855"/>
            <a:ext cx="1371601" cy="58521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7" name="Text 19">
            <a:extLst xmlns:a="http://schemas.openxmlformats.org/drawingml/2006/main">
              <a:ext uri="{FF2B5EF4-FFF2-40B4-BE49-F238E27FC236}">
                <a16:creationId xmlns:a16="http://schemas.microsoft.com/office/drawing/2014/main" id="{172AA139-AE2E-4492-88D3-D35DE994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66563"/>
            <a:ext cx="13716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  COMPARE</a:t>
            </a:r>
          </a:p>
        </p:txBody>
      </p:sp>
      <p:sp>
        <p:nvSpPr>
          <p:cNvPr id="148" name="Shape 20">
            <a:extLst xmlns:a="http://schemas.openxmlformats.org/drawingml/2006/main">
              <a:ext uri="{FF2B5EF4-FFF2-40B4-BE49-F238E27FC236}">
                <a16:creationId xmlns:a16="http://schemas.microsoft.com/office/drawing/2014/main" id="{759D58B5-709C-415F-98DF-24F09E50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562855"/>
            <a:ext cx="4343401" cy="585218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49" name="Text 21">
            <a:extLst xmlns:a="http://schemas.openxmlformats.org/drawingml/2006/main">
              <a:ext uri="{FF2B5EF4-FFF2-40B4-BE49-F238E27FC236}">
                <a16:creationId xmlns:a16="http://schemas.microsoft.com/office/drawing/2014/main" id="{386D2EEF-8034-4310-8561-078EAA3F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4703063"/>
            <a:ext cx="4160521" cy="3352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The interactive app uses the classical scheduler; its scenario is separate from the fixed QAOA example.</a:t>
            </a:r>
          </a:p>
        </p:txBody>
      </p:sp>
      <p:sp>
        <p:nvSpPr>
          <p:cNvPr id="150" name="Shape 22">
            <a:extLst xmlns:a="http://schemas.openxmlformats.org/drawingml/2006/main">
              <a:ext uri="{FF2B5EF4-FFF2-40B4-BE49-F238E27FC236}">
                <a16:creationId xmlns:a16="http://schemas.microsoft.com/office/drawing/2014/main" id="{0D948E2A-5A80-485F-9FCA-A2281128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444752" y="5175503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1" name="Shape 23">
            <a:extLst xmlns:a="http://schemas.openxmlformats.org/drawingml/2006/main">
              <a:ext uri="{FF2B5EF4-FFF2-40B4-BE49-F238E27FC236}">
                <a16:creationId xmlns:a16="http://schemas.microsoft.com/office/drawing/2014/main" id="{A6317CB9-A12D-4F7D-B393-A8073A09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66944"/>
            <a:ext cx="13716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2" name="Text 24">
            <a:extLst xmlns:a="http://schemas.openxmlformats.org/drawingml/2006/main">
              <a:ext uri="{FF2B5EF4-FFF2-40B4-BE49-F238E27FC236}">
                <a16:creationId xmlns:a16="http://schemas.microsoft.com/office/drawing/2014/main" id="{CEB97187-C713-4C07-8383-85E22CA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70652"/>
            <a:ext cx="13716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5  EXPLAIN</a:t>
            </a:r>
          </a:p>
        </p:txBody>
      </p:sp>
      <p:sp>
        <p:nvSpPr>
          <p:cNvPr id="153" name="Shape 25">
            <a:extLst xmlns:a="http://schemas.openxmlformats.org/drawingml/2006/main">
              <a:ext uri="{FF2B5EF4-FFF2-40B4-BE49-F238E27FC236}">
                <a16:creationId xmlns:a16="http://schemas.microsoft.com/office/drawing/2014/main" id="{4EDD0BA1-DC6A-432A-88A5-3EC3241A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266944"/>
            <a:ext cx="4343401" cy="585217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4" name="Text 26">
            <a:extLst xmlns:a="http://schemas.openxmlformats.org/drawingml/2006/main">
              <a:ext uri="{FF2B5EF4-FFF2-40B4-BE49-F238E27FC236}">
                <a16:creationId xmlns:a16="http://schemas.microsoft.com/office/drawing/2014/main" id="{19B8C87A-EA9E-4E68-9B1F-E18F25AC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5407152"/>
            <a:ext cx="4160521" cy="3352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Streamlit presents scenario inputs, schedules, and the performance metrics available in the prototype.</a:t>
            </a:r>
          </a:p>
        </p:txBody>
      </p:sp>
      <p:sp>
        <p:nvSpPr>
          <p:cNvPr id="155" name="Shape 27">
            <a:extLst xmlns:a="http://schemas.openxmlformats.org/drawingml/2006/main">
              <a:ext uri="{FF2B5EF4-FFF2-40B4-BE49-F238E27FC236}">
                <a16:creationId xmlns:a16="http://schemas.microsoft.com/office/drawing/2014/main" id="{67D7B78F-2C9E-4AEB-8043-6C916C18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19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56" name="Text 28">
            <a:extLst xmlns:a="http://schemas.openxmlformats.org/drawingml/2006/main">
              <a:ext uri="{FF2B5EF4-FFF2-40B4-BE49-F238E27FC236}">
                <a16:creationId xmlns:a16="http://schemas.microsoft.com/office/drawing/2014/main" id="{6D94CE72-81A9-4E7E-865B-96BBAEDC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2450592"/>
            <a:ext cx="4206241" cy="152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1000" b="1" spc="1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BENCHMARKING SCOPE</a:t>
            </a:r>
          </a:p>
        </p:txBody>
      </p:sp>
      <p:sp>
        <p:nvSpPr>
          <p:cNvPr id="157" name="Text 29">
            <a:extLst xmlns:a="http://schemas.openxmlformats.org/drawingml/2006/main">
              <a:ext uri="{FF2B5EF4-FFF2-40B4-BE49-F238E27FC236}">
                <a16:creationId xmlns:a16="http://schemas.microsoft.com/office/drawing/2014/main" id="{E5FB3B5C-8A11-4214-9CBE-3AEEB21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2788920"/>
            <a:ext cx="4206241" cy="6400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1400" b="1"/>
            </a:lvl1pPr>
          </a:lstStyle>
          <a:p xmlns:a="http://schemas.openxmlformats.org/drawingml/2006/main">
            <a:pPr>
              <a:buNone/>
            </a:pPr>
            <a:r>
              <a:t>A controlled comparison on identical inputs remains future work. Benchmarking should measure:</a:t>
            </a:r>
          </a:p>
        </p:txBody>
      </p:sp>
      <p:sp>
        <p:nvSpPr>
          <p:cNvPr id="158" name="Text 30">
            <a:extLst xmlns:a="http://schemas.openxmlformats.org/drawingml/2006/main">
              <a:ext uri="{FF2B5EF4-FFF2-40B4-BE49-F238E27FC236}">
                <a16:creationId xmlns:a16="http://schemas.microsoft.com/office/drawing/2014/main" id="{D9AD4E1D-7829-464B-AC3F-78728F8A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3657599"/>
            <a:ext cx="4206241" cy="84582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200"/>
            </a:pPr>
            <a:r>
              <a:t>Candidate schedule quality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200"/>
            </a:pPr>
            <a:r>
              <a:t>Execution time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200"/>
            </a:pPr>
            <a:r>
              <a:t>Scaling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200"/>
            </a:pPr>
            <a:r>
              <a:t>Constraint satisfaction</a:t>
            </a:r>
          </a:p>
        </p:txBody>
      </p:sp>
      <p:sp>
        <p:nvSpPr>
          <p:cNvPr id="159" name="Shape 31">
            <a:extLst xmlns:a="http://schemas.openxmlformats.org/drawingml/2006/main">
              <a:ext uri="{FF2B5EF4-FFF2-40B4-BE49-F238E27FC236}">
                <a16:creationId xmlns:a16="http://schemas.microsoft.com/office/drawing/2014/main" id="{310C4DF8-E1E2-4EA0-9BCB-66522F36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5074920"/>
            <a:ext cx="4206241" cy="868681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DE7F1"/>
          </a:solidFill>
          <a:ln xmlns:a="http://schemas.openxmlformats.org/drawingml/2006/main" w="15875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0" name="Text 32">
            <a:extLst xmlns:a="http://schemas.openxmlformats.org/drawingml/2006/main">
              <a:ext uri="{FF2B5EF4-FFF2-40B4-BE49-F238E27FC236}">
                <a16:creationId xmlns:a16="http://schemas.microsoft.com/office/drawing/2014/main" id="{8A6102BD-94B0-493A-BF92-86C1633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356860"/>
            <a:ext cx="3931921" cy="304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 b="1"/>
            </a:lvl1pPr>
          </a:lstStyle>
          <a:p xmlns:a="http://schemas.openxmlformats.org/drawingml/2006/main">
            <a:pPr>
              <a:buNone/>
            </a:pPr>
            <a:r>
              <a:t>Quantum advantage is reported only if supported by measurements. None is claimed in this presentation.</a:t>
            </a:r>
          </a:p>
        </p:txBody>
      </p:sp>
      <p:sp>
        <p:nvSpPr>
          <p:cNvPr id="161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72B1F87-4D1E-44EE-8819-B2741103C3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72746763"/>
      </p:ext>
    </p:extLst>
  </p:cSld>
</p:sld>
</file>

<file path=ppt/slides/slide5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Text 16">
            <a:extLst xmlns:a="http://schemas.openxmlformats.org/drawingml/2006/main">
              <a:ext uri="{FF2B5EF4-FFF2-40B4-BE49-F238E27FC236}">
                <a16:creationId xmlns:a16="http://schemas.microsoft.com/office/drawing/2014/main" id="{C121100B-8B14-4B89-B941-CA31F5D80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defTabSz="740663">
              <a:buNone/>
              <a:defRPr sz="2592"/>
            </a:lvl1pPr>
          </a:lstStyle>
          <a:p xmlns:a="http://schemas.openxmlformats.org/drawingml/2006/main">
            <a:pPr>
              <a:buNone/>
            </a:pPr>
            <a:r>
              <a:t>Algorithm: Quantum Approximate Optimization Algorithm (QAOA)</a:t>
            </a:r>
          </a:p>
        </p:txBody>
      </p:sp>
      <p:sp>
        <p:nvSpPr>
          <p:cNvPr id="164" name="Shape 1">
            <a:extLst xmlns:a="http://schemas.openxmlformats.org/drawingml/2006/main">
              <a:ext uri="{FF2B5EF4-FFF2-40B4-BE49-F238E27FC236}">
                <a16:creationId xmlns:a16="http://schemas.microsoft.com/office/drawing/2014/main" id="{5EF17DE8-6595-487F-ACA6-2C9908A8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2743201" cy="3931921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5" name="Shape 2">
            <a:extLst xmlns:a="http://schemas.openxmlformats.org/drawingml/2006/main">
              <a:ext uri="{FF2B5EF4-FFF2-40B4-BE49-F238E27FC236}">
                <a16:creationId xmlns:a16="http://schemas.microsoft.com/office/drawing/2014/main" id="{FF6C5866-171A-430A-8EB9-1D63E6C0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6" name="Text 3">
            <a:extLst xmlns:a="http://schemas.openxmlformats.org/drawingml/2006/main">
              <a:ext uri="{FF2B5EF4-FFF2-40B4-BE49-F238E27FC236}">
                <a16:creationId xmlns:a16="http://schemas.microsoft.com/office/drawing/2014/main" id="{B623E601-90D9-4367-81B4-F2EE0661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2486152"/>
            <a:ext cx="2468882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Implemented Workflow</a:t>
            </a:r>
          </a:p>
        </p:txBody>
      </p:sp>
      <p:sp>
        <p:nvSpPr>
          <p:cNvPr id="167" name="Shape 4">
            <a:extLst xmlns:a="http://schemas.openxmlformats.org/drawingml/2006/main">
              <a:ext uri="{FF2B5EF4-FFF2-40B4-BE49-F238E27FC236}">
                <a16:creationId xmlns:a16="http://schemas.microsoft.com/office/drawing/2014/main" id="{6210770A-E8BD-4B14-899A-14C5315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2788920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68" name="Text 5">
            <a:extLst xmlns:a="http://schemas.openxmlformats.org/drawingml/2006/main">
              <a:ext uri="{FF2B5EF4-FFF2-40B4-BE49-F238E27FC236}">
                <a16:creationId xmlns:a16="http://schemas.microsoft.com/office/drawing/2014/main" id="{F3EA38CD-1F0B-4F0F-8594-FFFF64F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2883662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EV charging inputs</a:t>
            </a:r>
          </a:p>
        </p:txBody>
      </p:sp>
      <p:sp>
        <p:nvSpPr>
          <p:cNvPr id="169" name="Shape 6">
            <a:extLst xmlns:a="http://schemas.openxmlformats.org/drawingml/2006/main">
              <a:ext uri="{FF2B5EF4-FFF2-40B4-BE49-F238E27FC236}">
                <a16:creationId xmlns:a16="http://schemas.microsoft.com/office/drawing/2014/main" id="{7710F31D-45C5-4874-820F-C63711A1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3140963"/>
            <a:ext cx="219457" cy="91442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0" name="Shape 7">
            <a:extLst xmlns:a="http://schemas.openxmlformats.org/drawingml/2006/main">
              <a:ext uri="{FF2B5EF4-FFF2-40B4-BE49-F238E27FC236}">
                <a16:creationId xmlns:a16="http://schemas.microsoft.com/office/drawing/2014/main" id="{BFA73CB0-8576-4BAF-BB53-4E80A1E7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3255264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1" name="Text 8">
            <a:extLst xmlns:a="http://schemas.openxmlformats.org/drawingml/2006/main">
              <a:ext uri="{FF2B5EF4-FFF2-40B4-BE49-F238E27FC236}">
                <a16:creationId xmlns:a16="http://schemas.microsoft.com/office/drawing/2014/main" id="{9B77AA31-BB13-4E7C-A81E-EF8EB21E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3350006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Binary optimization model</a:t>
            </a:r>
          </a:p>
        </p:txBody>
      </p:sp>
      <p:sp>
        <p:nvSpPr>
          <p:cNvPr id="172" name="Shape 9">
            <a:extLst xmlns:a="http://schemas.openxmlformats.org/drawingml/2006/main">
              <a:ext uri="{FF2B5EF4-FFF2-40B4-BE49-F238E27FC236}">
                <a16:creationId xmlns:a16="http://schemas.microsoft.com/office/drawing/2014/main" id="{CB7F8562-AA24-4618-A666-36D82C33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3607308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3" name="Shape 10">
            <a:extLst xmlns:a="http://schemas.openxmlformats.org/drawingml/2006/main">
              <a:ext uri="{FF2B5EF4-FFF2-40B4-BE49-F238E27FC236}">
                <a16:creationId xmlns:a16="http://schemas.microsoft.com/office/drawing/2014/main" id="{EE67155A-965E-4F54-BAAE-C1A896CA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3721608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4" name="Text 11">
            <a:extLst xmlns:a="http://schemas.openxmlformats.org/drawingml/2006/main">
              <a:ext uri="{FF2B5EF4-FFF2-40B4-BE49-F238E27FC236}">
                <a16:creationId xmlns:a16="http://schemas.microsoft.com/office/drawing/2014/main" id="{47DA72F3-361E-4F6B-9B46-B9B773F4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3816350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QUBO/Ising Hamiltonian</a:t>
            </a:r>
          </a:p>
        </p:txBody>
      </p:sp>
      <p:sp>
        <p:nvSpPr>
          <p:cNvPr id="175" name="Shape 12">
            <a:extLst xmlns:a="http://schemas.openxmlformats.org/drawingml/2006/main">
              <a:ext uri="{FF2B5EF4-FFF2-40B4-BE49-F238E27FC236}">
                <a16:creationId xmlns:a16="http://schemas.microsoft.com/office/drawing/2014/main" id="{62F4AEDC-F937-4D36-B4A5-E3139B4C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4073652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6" name="Shape 13">
            <a:extLst xmlns:a="http://schemas.openxmlformats.org/drawingml/2006/main">
              <a:ext uri="{FF2B5EF4-FFF2-40B4-BE49-F238E27FC236}">
                <a16:creationId xmlns:a16="http://schemas.microsoft.com/office/drawing/2014/main" id="{1CAE598A-A2A6-4078-8EA7-71EF8E0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4187952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7" name="Text 14">
            <a:extLst xmlns:a="http://schemas.openxmlformats.org/drawingml/2006/main">
              <a:ext uri="{FF2B5EF4-FFF2-40B4-BE49-F238E27FC236}">
                <a16:creationId xmlns:a16="http://schemas.microsoft.com/office/drawing/2014/main" id="{B5C00C1F-635C-45E1-858A-C9CDB4ED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4282694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QAOA circuit</a:t>
            </a:r>
          </a:p>
        </p:txBody>
      </p:sp>
      <p:sp>
        <p:nvSpPr>
          <p:cNvPr id="178" name="Shape 15">
            <a:extLst xmlns:a="http://schemas.openxmlformats.org/drawingml/2006/main">
              <a:ext uri="{FF2B5EF4-FFF2-40B4-BE49-F238E27FC236}">
                <a16:creationId xmlns:a16="http://schemas.microsoft.com/office/drawing/2014/main" id="{B94C3BDD-65DD-4EBE-B603-ABF8FA5E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4539996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79" name="Shape 16">
            <a:extLst xmlns:a="http://schemas.openxmlformats.org/drawingml/2006/main">
              <a:ext uri="{FF2B5EF4-FFF2-40B4-BE49-F238E27FC236}">
                <a16:creationId xmlns:a16="http://schemas.microsoft.com/office/drawing/2014/main" id="{FEABA06B-762C-4836-9B8F-606EB95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4654296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0" name="Text 17">
            <a:extLst xmlns:a="http://schemas.openxmlformats.org/drawingml/2006/main">
              <a:ext uri="{FF2B5EF4-FFF2-40B4-BE49-F238E27FC236}">
                <a16:creationId xmlns:a16="http://schemas.microsoft.com/office/drawing/2014/main" id="{F598A16F-7ED4-4673-8733-73C32905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4749038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Measurement</a:t>
            </a:r>
          </a:p>
        </p:txBody>
      </p:sp>
      <p:sp>
        <p:nvSpPr>
          <p:cNvPr id="181" name="Shape 18">
            <a:extLst xmlns:a="http://schemas.openxmlformats.org/drawingml/2006/main">
              <a:ext uri="{FF2B5EF4-FFF2-40B4-BE49-F238E27FC236}">
                <a16:creationId xmlns:a16="http://schemas.microsoft.com/office/drawing/2014/main" id="{EB3D6A57-DC49-4E0E-B705-91C5F25D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5006340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2" name="Shape 19">
            <a:extLst xmlns:a="http://schemas.openxmlformats.org/drawingml/2006/main">
              <a:ext uri="{FF2B5EF4-FFF2-40B4-BE49-F238E27FC236}">
                <a16:creationId xmlns:a16="http://schemas.microsoft.com/office/drawing/2014/main" id="{8F1FBDA3-6EAC-4F27-94D5-7E91459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5120640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3" name="Text 20">
            <a:extLst xmlns:a="http://schemas.openxmlformats.org/drawingml/2006/main">
              <a:ext uri="{FF2B5EF4-FFF2-40B4-BE49-F238E27FC236}">
                <a16:creationId xmlns:a16="http://schemas.microsoft.com/office/drawing/2014/main" id="{D58D9AC5-6E6A-4411-B0AF-48F71FA0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5215382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/>
            </a:lvl1pPr>
          </a:lstStyle>
          <a:p xmlns:a="http://schemas.openxmlformats.org/drawingml/2006/main">
            <a:pPr>
              <a:buNone/>
            </a:pPr>
            <a:r>
              <a:t>Candidate schedule</a:t>
            </a:r>
          </a:p>
        </p:txBody>
      </p:sp>
      <p:sp>
        <p:nvSpPr>
          <p:cNvPr id="184" name="Shape 21">
            <a:extLst xmlns:a="http://schemas.openxmlformats.org/drawingml/2006/main">
              <a:ext uri="{FF2B5EF4-FFF2-40B4-BE49-F238E27FC236}">
                <a16:creationId xmlns:a16="http://schemas.microsoft.com/office/drawing/2014/main" id="{F13F1230-31DD-477B-947A-B5BC7333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865376" y="5472684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5" name="Shape 22">
            <a:extLst xmlns:a="http://schemas.openxmlformats.org/drawingml/2006/main">
              <a:ext uri="{FF2B5EF4-FFF2-40B4-BE49-F238E27FC236}">
                <a16:creationId xmlns:a16="http://schemas.microsoft.com/office/drawing/2014/main" id="{3ADB97F9-CBEA-4121-9E14-C4434D47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5586984"/>
            <a:ext cx="2377441" cy="32918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6" name="Text 23">
            <a:extLst xmlns:a="http://schemas.openxmlformats.org/drawingml/2006/main">
              <a:ext uri="{FF2B5EF4-FFF2-40B4-BE49-F238E27FC236}">
                <a16:creationId xmlns:a16="http://schemas.microsoft.com/office/drawing/2014/main" id="{30BABFE7-48FB-4154-B375-3A2B0066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3" y="5681726"/>
            <a:ext cx="2377441" cy="139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Performance evaluation</a:t>
            </a:r>
          </a:p>
        </p:txBody>
      </p:sp>
      <p:sp>
        <p:nvSpPr>
          <p:cNvPr id="187" name="Shape 24">
            <a:extLst xmlns:a="http://schemas.openxmlformats.org/drawingml/2006/main">
              <a:ext uri="{FF2B5EF4-FFF2-40B4-BE49-F238E27FC236}">
                <a16:creationId xmlns:a16="http://schemas.microsoft.com/office/drawing/2014/main" id="{CF2B0A47-01A3-4FFC-8763-F6155D1F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40279"/>
            <a:ext cx="461772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9050">
            <a:solidFill>
              <a:schemeClr val="accent1"/>
            </a:solidFill>
            <a:prstDash val="dash"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8" name="Text 25">
            <a:extLst xmlns:a="http://schemas.openxmlformats.org/drawingml/2006/main">
              <a:ext uri="{FF2B5EF4-FFF2-40B4-BE49-F238E27FC236}">
                <a16:creationId xmlns:a16="http://schemas.microsoft.com/office/drawing/2014/main" id="{0DB7D06B-9F2B-402A-822A-9A30152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9" y="2504439"/>
            <a:ext cx="43434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Implemented QAOA Circuit</a:t>
            </a:r>
          </a:p>
        </p:txBody>
      </p:sp>
      <p:pic>
        <p:nvPicPr>
          <p:cNvPr id="189" name="Image 0">
            <a:extLst xmlns:a="http://schemas.openxmlformats.org/drawingml/2006/main">
              <a:ext uri="{FF2B5EF4-FFF2-40B4-BE49-F238E27FC236}">
                <a16:creationId xmlns:a16="http://schemas.microsoft.com/office/drawing/2014/main" id="{B2D3EAE6-E25C-4BF6-8C27-C5132682E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64bfbf27a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1879" y="3246120"/>
            <a:ext cx="4343401" cy="1398949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90" name="Text 26">
            <a:extLst xmlns:a="http://schemas.openxmlformats.org/drawingml/2006/main">
              <a:ext uri="{FF2B5EF4-FFF2-40B4-BE49-F238E27FC236}">
                <a16:creationId xmlns:a16="http://schemas.microsoft.com/office/drawing/2014/main" id="{5C92EEDB-786B-41F0-9AC7-601A61F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79" y="4934628"/>
            <a:ext cx="4343401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 i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 qubits, measured on all qubits</a:t>
            </a:r>
          </a:p>
        </p:txBody>
      </p:sp>
      <p:sp>
        <p:nvSpPr>
          <p:cNvPr id="191" name="Shape 27">
            <a:extLst xmlns:a="http://schemas.openxmlformats.org/drawingml/2006/main">
              <a:ext uri="{FF2B5EF4-FFF2-40B4-BE49-F238E27FC236}">
                <a16:creationId xmlns:a16="http://schemas.microsoft.com/office/drawing/2014/main" id="{2349772A-969B-4FED-8DC2-7F2DE8E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0279"/>
            <a:ext cx="3346704" cy="3931921"/>
          </a:xfrm>
          <a:prstGeom xmlns:a="http://schemas.openxmlformats.org/drawingml/2006/main" prst="roundRect">
            <a:avLst>
              <a:gd name="adj" fmla="val 2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2" name="Shape 28">
            <a:extLst xmlns:a="http://schemas.openxmlformats.org/drawingml/2006/main">
              <a:ext uri="{FF2B5EF4-FFF2-40B4-BE49-F238E27FC236}">
                <a16:creationId xmlns:a16="http://schemas.microsoft.com/office/drawing/2014/main" id="{40B00EA1-4AE9-4AEE-B2BD-FA96166D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2235707"/>
            <a:ext cx="1115569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93" name="Text 29">
            <a:extLst xmlns:a="http://schemas.openxmlformats.org/drawingml/2006/main">
              <a:ext uri="{FF2B5EF4-FFF2-40B4-BE49-F238E27FC236}">
                <a16:creationId xmlns:a16="http://schemas.microsoft.com/office/drawing/2014/main" id="{7F330A5E-A7BD-4D6B-9F17-975A6044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467864"/>
            <a:ext cx="310896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Key Components</a:t>
            </a:r>
          </a:p>
        </p:txBody>
      </p:sp>
      <p:sp>
        <p:nvSpPr>
          <p:cNvPr id="194" name="Text 30">
            <a:extLst xmlns:a="http://schemas.openxmlformats.org/drawingml/2006/main">
              <a:ext uri="{FF2B5EF4-FFF2-40B4-BE49-F238E27FC236}">
                <a16:creationId xmlns:a16="http://schemas.microsoft.com/office/drawing/2014/main" id="{B7E591B4-65C7-480F-B6DA-F77B2A4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743200"/>
            <a:ext cx="3108961" cy="124968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900" b="1">
                <a:solidFill>
                  <a:schemeClr val="accent3"/>
                </a:solidFill>
              </a:defRPr>
            </a:pPr>
            <a:r>
              <a:t>Variables: Binary 1-kWh EV-slot charging assignments.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900" b="1">
                <a:solidFill>
                  <a:schemeClr val="accent3"/>
                </a:solidFill>
              </a:defRPr>
            </a:pPr>
            <a:r>
              <a:t>Objective: Reward charging higher-priority EVs.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900" b="1">
                <a:solidFill>
                  <a:schemeClr val="accent3"/>
                </a:solidFill>
              </a:defRPr>
            </a:pPr>
            <a:r>
              <a:t>Constraints: EV energy requests and per-slot grid limit.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900" b="1">
                <a:solidFill>
                  <a:schemeClr val="accent3"/>
                </a:solidFill>
              </a:defRPr>
            </a:pPr>
            <a:r>
              <a:t>QAOA: One layer (p=1), COBYLA (5 iterations), 64 simulator shots.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900" b="1">
                <a:solidFill>
                  <a:schemeClr val="accent3"/>
                </a:solidFill>
              </a:defRPr>
            </a:pPr>
            <a:r>
              <a:t>Measurement: Decode bitstrings as schedule candidates.</a:t>
            </a:r>
          </a:p>
        </p:txBody>
      </p:sp>
      <p:sp>
        <p:nvSpPr>
          <p:cNvPr id="195" name="Text 31">
            <a:extLst xmlns:a="http://schemas.openxmlformats.org/drawingml/2006/main">
              <a:ext uri="{FF2B5EF4-FFF2-40B4-BE49-F238E27FC236}">
                <a16:creationId xmlns:a16="http://schemas.microsoft.com/office/drawing/2014/main" id="{C505C3E3-BE34-47E7-A6F5-4BAB2D5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5382006"/>
            <a:ext cx="3108961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Evaluation</a:t>
            </a:r>
          </a:p>
        </p:txBody>
      </p:sp>
      <p:sp>
        <p:nvSpPr>
          <p:cNvPr id="196" name="Text 32">
            <a:extLst xmlns:a="http://schemas.openxmlformats.org/drawingml/2006/main">
              <a:ext uri="{FF2B5EF4-FFF2-40B4-BE49-F238E27FC236}">
                <a16:creationId xmlns:a16="http://schemas.microsoft.com/office/drawing/2014/main" id="{103D29BC-12DE-4859-92A5-9B49BD7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5623559"/>
            <a:ext cx="3108961" cy="304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>
            <a:lvl1pPr>
              <a:buNone/>
              <a:defRPr sz="1000"/>
            </a:lvl1pPr>
          </a:lstStyle>
          <a:p xmlns:a="http://schemas.openxmlformats.org/drawingml/2006/main">
            <a:pPr>
              <a:buNone/>
            </a:pPr>
            <a:r>
              <a:t>The small QAOA output is examined alongside classical baseline results.</a:t>
            </a:r>
          </a:p>
        </p:txBody>
      </p:sp>
      <p:sp>
        <p:nvSpPr>
          <p:cNvPr id="197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F803F45-91BB-4938-A4C2-A862A21A307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0002841"/>
      </p:ext>
    </p:extLst>
  </p:cSld>
</p:sld>
</file>

<file path=ppt/slides/slide6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" name="Text 16">
            <a:extLst xmlns:a="http://schemas.openxmlformats.org/drawingml/2006/main">
              <a:ext uri="{FF2B5EF4-FFF2-40B4-BE49-F238E27FC236}">
                <a16:creationId xmlns:a16="http://schemas.microsoft.com/office/drawing/2014/main" id="{120B6F8A-D55F-4E57-B818-5C82328CA5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Technology Stack</a:t>
            </a:r>
          </a:p>
        </p:txBody>
      </p:sp>
      <p:sp>
        <p:nvSpPr>
          <p:cNvPr id="200" name="Shape 1">
            <a:extLst xmlns:a="http://schemas.openxmlformats.org/drawingml/2006/main">
              <a:ext uri="{FF2B5EF4-FFF2-40B4-BE49-F238E27FC236}">
                <a16:creationId xmlns:a16="http://schemas.microsoft.com/office/drawing/2014/main" id="{43AA773B-36A6-45A2-B31D-A2A1E315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1" name="Shape 2">
            <a:extLst xmlns:a="http://schemas.openxmlformats.org/drawingml/2006/main">
              <a:ext uri="{FF2B5EF4-FFF2-40B4-BE49-F238E27FC236}">
                <a16:creationId xmlns:a16="http://schemas.microsoft.com/office/drawing/2014/main" id="{E770F8E3-4CA8-4A00-83E0-8A33F8C5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2" name="Text 3">
            <a:extLst xmlns:a="http://schemas.openxmlformats.org/drawingml/2006/main">
              <a:ext uri="{FF2B5EF4-FFF2-40B4-BE49-F238E27FC236}">
                <a16:creationId xmlns:a16="http://schemas.microsoft.com/office/drawing/2014/main" id="{C1120B55-F42A-42EE-B450-0AB5118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6152"/>
            <a:ext cx="45720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What We Used</a:t>
            </a:r>
          </a:p>
        </p:txBody>
      </p:sp>
      <p:graphicFrame>
        <p:nvGraphicFramePr>
          <p:cNvPr id="203" name="Table 0">
            <a:extLst xmlns:a="http://schemas.openxmlformats.org/drawingml/2006/main">
              <a:ext uri="{FF2B5EF4-FFF2-40B4-BE49-F238E27FC236}">
                <a16:creationId xmlns:a16="http://schemas.microsoft.com/office/drawing/2014/main" id="{2BEF0066-B798-4B32-B58A-A32F28D0AC97}"/>
              </a:ext>
            </a:extLst>
          </p:cNvPr>
          <p:cNvGraphicFramePr/>
          <p:nvPr/>
        </p:nvGraphicFramePr>
        <p:xfrm>
          <a:off xmlns:a="http://schemas.openxmlformats.org/drawingml/2006/main" x="868680" y="2788920"/>
          <a:ext xmlns:a="http://schemas.openxmlformats.org/drawingml/2006/main" cx="5897880" cy="3017521"/>
        </p:xfrm>
        <a:graphic xmlns:a="http://schemas.openxmlformats.org/drawingml/2006/main">
          <a:graphicData uri="http://schemas.openxmlformats.org/drawingml/2006/table">
            <a:tbl>
              <a:tblPr rtl="0" firstRow="0" firstCol="0" lastRow="0" lastCol="0" bandRow="0" bandCol="0">
                <a:tableStyleId>{4C3C2611-4C71-4FC5-86AE-919BDF0F9419}</a:tableStyleId>
              </a:tblPr>
              <a:tblGrid>
                <a:gridCol w="1828800"/>
                <a:gridCol w="4069080"/>
              </a:tblGrid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Programming Language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Python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Quantum Framework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Qiskit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Optimization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QUBO / Ising formulation and QAOA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Classical Baselines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Greedy scheduling and a classical optimization baseline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Data Analysis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NumPy, pandas, Matplotlib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chemeClr val="accent3"/>
                          </a:solidFill>
                        </a:rPr>
                        <a:t>User Interaction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>
                          <a:solidFill>
                            <a:srgbClr val="2B1B5E"/>
                          </a:solidFill>
                        </a:rPr>
                        <a:t>Interactive web application with an AI planning agent for scenario inputs and trade-off explanations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chemeClr val="accent5"/>
                      </a:solidFill>
                    </a:lnL>
                    <a:lnR w="12700">
                      <a:solidFill>
                        <a:schemeClr val="accent5"/>
                      </a:solidFill>
                    </a:lnR>
                    <a:lnT w="12700">
                      <a:solidFill>
                        <a:schemeClr val="accent5"/>
                      </a:solidFill>
                    </a:lnT>
                    <a:lnB w="12700">
                      <a:solidFill>
                        <a:schemeClr val="accent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4" name="Shape 4">
            <a:extLst xmlns:a="http://schemas.openxmlformats.org/drawingml/2006/main">
              <a:ext uri="{FF2B5EF4-FFF2-40B4-BE49-F238E27FC236}">
                <a16:creationId xmlns:a16="http://schemas.microsoft.com/office/drawing/2014/main" id="{00769DBD-793A-41D6-9B82-F3771E6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5" name="Text 5">
            <a:extLst xmlns:a="http://schemas.openxmlformats.org/drawingml/2006/main">
              <a:ext uri="{FF2B5EF4-FFF2-40B4-BE49-F238E27FC236}">
                <a16:creationId xmlns:a16="http://schemas.microsoft.com/office/drawing/2014/main" id="{0F3E75F2-BCC6-4CD0-8C4A-460BDB7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486152"/>
            <a:ext cx="41148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Implementation Pipeline</a:t>
            </a:r>
          </a:p>
        </p:txBody>
      </p:sp>
      <p:sp>
        <p:nvSpPr>
          <p:cNvPr id="206" name="Shape 6">
            <a:extLst xmlns:a="http://schemas.openxmlformats.org/drawingml/2006/main">
              <a:ext uri="{FF2B5EF4-FFF2-40B4-BE49-F238E27FC236}">
                <a16:creationId xmlns:a16="http://schemas.microsoft.com/office/drawing/2014/main" id="{F01BBA47-1524-4DF1-939C-B6099875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2788920"/>
            <a:ext cx="3520441" cy="530353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7" name="Text 7">
            <a:extLst xmlns:a="http://schemas.openxmlformats.org/drawingml/2006/main">
              <a:ext uri="{FF2B5EF4-FFF2-40B4-BE49-F238E27FC236}">
                <a16:creationId xmlns:a16="http://schemas.microsoft.com/office/drawing/2014/main" id="{607E6A89-B0A3-4879-BD6F-27269BE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7" y="2977896"/>
            <a:ext cx="3337560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Defined a small, reproducible EV charging scenario.</a:t>
            </a:r>
          </a:p>
        </p:txBody>
      </p:sp>
      <p:sp>
        <p:nvSpPr>
          <p:cNvPr id="208" name="Shape 8">
            <a:extLst xmlns:a="http://schemas.openxmlformats.org/drawingml/2006/main">
              <a:ext uri="{FF2B5EF4-FFF2-40B4-BE49-F238E27FC236}">
                <a16:creationId xmlns:a16="http://schemas.microsoft.com/office/drawing/2014/main" id="{33F30CC6-CC3F-45CE-B503-76DA5A23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862072"/>
            <a:ext cx="384049" cy="38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09" name="Text 9">
            <a:extLst xmlns:a="http://schemas.openxmlformats.org/drawingml/2006/main">
              <a:ext uri="{FF2B5EF4-FFF2-40B4-BE49-F238E27FC236}">
                <a16:creationId xmlns:a16="http://schemas.microsoft.com/office/drawing/2014/main" id="{0B364A41-9684-4DF4-907B-13AF14BE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958846"/>
            <a:ext cx="384049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210" name="Shape 10">
            <a:extLst xmlns:a="http://schemas.openxmlformats.org/drawingml/2006/main">
              <a:ext uri="{FF2B5EF4-FFF2-40B4-BE49-F238E27FC236}">
                <a16:creationId xmlns:a16="http://schemas.microsoft.com/office/drawing/2014/main" id="{282AE84E-1238-4C99-B097-364EC706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6056" y="3305556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1" name="Shape 11">
            <a:extLst xmlns:a="http://schemas.openxmlformats.org/drawingml/2006/main">
              <a:ext uri="{FF2B5EF4-FFF2-40B4-BE49-F238E27FC236}">
                <a16:creationId xmlns:a16="http://schemas.microsoft.com/office/drawing/2014/main" id="{472E2E2F-4921-49C3-B4B9-72EFC9CF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3447288"/>
            <a:ext cx="3520441" cy="530353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2" name="Text 12">
            <a:extLst xmlns:a="http://schemas.openxmlformats.org/drawingml/2006/main">
              <a:ext uri="{FF2B5EF4-FFF2-40B4-BE49-F238E27FC236}">
                <a16:creationId xmlns:a16="http://schemas.microsoft.com/office/drawing/2014/main" id="{B97787E9-8901-498C-A46B-BD9E0A3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7" y="3636264"/>
            <a:ext cx="3337560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Formulated the optimization model.</a:t>
            </a:r>
          </a:p>
        </p:txBody>
      </p:sp>
      <p:sp>
        <p:nvSpPr>
          <p:cNvPr id="213" name="Shape 13">
            <a:extLst xmlns:a="http://schemas.openxmlformats.org/drawingml/2006/main">
              <a:ext uri="{FF2B5EF4-FFF2-40B4-BE49-F238E27FC236}">
                <a16:creationId xmlns:a16="http://schemas.microsoft.com/office/drawing/2014/main" id="{4359EBAB-6EC5-42B8-B508-8370E55F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520440"/>
            <a:ext cx="384049" cy="38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4" name="Text 14">
            <a:extLst xmlns:a="http://schemas.openxmlformats.org/drawingml/2006/main">
              <a:ext uri="{FF2B5EF4-FFF2-40B4-BE49-F238E27FC236}">
                <a16:creationId xmlns:a16="http://schemas.microsoft.com/office/drawing/2014/main" id="{528ED9EA-59CD-492B-8CAA-FD1AA028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3617214"/>
            <a:ext cx="384049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215" name="Shape 15">
            <a:extLst xmlns:a="http://schemas.openxmlformats.org/drawingml/2006/main">
              <a:ext uri="{FF2B5EF4-FFF2-40B4-BE49-F238E27FC236}">
                <a16:creationId xmlns:a16="http://schemas.microsoft.com/office/drawing/2014/main" id="{784AB4C9-53A7-4985-AF62-35448AC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6056" y="3963924"/>
            <a:ext cx="219457" cy="914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6" name="Shape 16">
            <a:extLst xmlns:a="http://schemas.openxmlformats.org/drawingml/2006/main">
              <a:ext uri="{FF2B5EF4-FFF2-40B4-BE49-F238E27FC236}">
                <a16:creationId xmlns:a16="http://schemas.microsoft.com/office/drawing/2014/main" id="{FB84B4CD-7083-47D1-882A-CA1947F0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4105655"/>
            <a:ext cx="3520441" cy="530353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7" name="Text 17">
            <a:extLst xmlns:a="http://schemas.openxmlformats.org/drawingml/2006/main">
              <a:ext uri="{FF2B5EF4-FFF2-40B4-BE49-F238E27FC236}">
                <a16:creationId xmlns:a16="http://schemas.microsoft.com/office/drawing/2014/main" id="{ADC8E0C7-D084-4EB7-B016-03EE8AB6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7" y="4294631"/>
            <a:ext cx="3337560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Implemented and ran QAOA with Qiskit.</a:t>
            </a:r>
          </a:p>
        </p:txBody>
      </p:sp>
      <p:sp>
        <p:nvSpPr>
          <p:cNvPr id="218" name="Shape 18">
            <a:extLst xmlns:a="http://schemas.openxmlformats.org/drawingml/2006/main">
              <a:ext uri="{FF2B5EF4-FFF2-40B4-BE49-F238E27FC236}">
                <a16:creationId xmlns:a16="http://schemas.microsoft.com/office/drawing/2014/main" id="{7A5E67B0-471E-412A-BFC7-32D60C9F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178808"/>
            <a:ext cx="384049" cy="38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19" name="Text 19">
            <a:extLst xmlns:a="http://schemas.openxmlformats.org/drawingml/2006/main">
              <a:ext uri="{FF2B5EF4-FFF2-40B4-BE49-F238E27FC236}">
                <a16:creationId xmlns:a16="http://schemas.microsoft.com/office/drawing/2014/main" id="{1CAD5405-F74F-4777-9018-3D050997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275582"/>
            <a:ext cx="384049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220" name="Shape 20">
            <a:extLst xmlns:a="http://schemas.openxmlformats.org/drawingml/2006/main">
              <a:ext uri="{FF2B5EF4-FFF2-40B4-BE49-F238E27FC236}">
                <a16:creationId xmlns:a16="http://schemas.microsoft.com/office/drawing/2014/main" id="{A1B787B0-6A1F-4B20-AC21-F6E66916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6056" y="4622291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1" name="Shape 21">
            <a:extLst xmlns:a="http://schemas.openxmlformats.org/drawingml/2006/main">
              <a:ext uri="{FF2B5EF4-FFF2-40B4-BE49-F238E27FC236}">
                <a16:creationId xmlns:a16="http://schemas.microsoft.com/office/drawing/2014/main" id="{9C934DA0-D5DF-448D-8C13-CF90FEBA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4764023"/>
            <a:ext cx="3520441" cy="530353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2" name="Text 22">
            <a:extLst xmlns:a="http://schemas.openxmlformats.org/drawingml/2006/main">
              <a:ext uri="{FF2B5EF4-FFF2-40B4-BE49-F238E27FC236}">
                <a16:creationId xmlns:a16="http://schemas.microsoft.com/office/drawing/2014/main" id="{49F3D046-43D0-45A8-9C78-564A4E43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7" y="4952999"/>
            <a:ext cx="3337560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Generated classical baseline schedules.</a:t>
            </a:r>
          </a:p>
        </p:txBody>
      </p:sp>
      <p:sp>
        <p:nvSpPr>
          <p:cNvPr id="223" name="Shape 23">
            <a:extLst xmlns:a="http://schemas.openxmlformats.org/drawingml/2006/main">
              <a:ext uri="{FF2B5EF4-FFF2-40B4-BE49-F238E27FC236}">
                <a16:creationId xmlns:a16="http://schemas.microsoft.com/office/drawing/2014/main" id="{DA2F51EC-83D5-458F-A818-99E2D050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837176"/>
            <a:ext cx="384049" cy="38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4" name="Text 24">
            <a:extLst xmlns:a="http://schemas.openxmlformats.org/drawingml/2006/main">
              <a:ext uri="{FF2B5EF4-FFF2-40B4-BE49-F238E27FC236}">
                <a16:creationId xmlns:a16="http://schemas.microsoft.com/office/drawing/2014/main" id="{7928ECDE-B260-46DF-B932-68DC083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933950"/>
            <a:ext cx="384049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225" name="Shape 25">
            <a:extLst xmlns:a="http://schemas.openxmlformats.org/drawingml/2006/main">
              <a:ext uri="{FF2B5EF4-FFF2-40B4-BE49-F238E27FC236}">
                <a16:creationId xmlns:a16="http://schemas.microsoft.com/office/drawing/2014/main" id="{88791736-F357-4603-B642-4714A0B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6056" y="5280659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6" name="Shape 26">
            <a:extLst xmlns:a="http://schemas.openxmlformats.org/drawingml/2006/main">
              <a:ext uri="{FF2B5EF4-FFF2-40B4-BE49-F238E27FC236}">
                <a16:creationId xmlns:a16="http://schemas.microsoft.com/office/drawing/2014/main" id="{B83F4A25-6F5F-4D4D-8E7B-73A98571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19" y="5422391"/>
            <a:ext cx="3520441" cy="530353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270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7" name="Text 27">
            <a:extLst xmlns:a="http://schemas.openxmlformats.org/drawingml/2006/main">
              <a:ext uri="{FF2B5EF4-FFF2-40B4-BE49-F238E27FC236}">
                <a16:creationId xmlns:a16="http://schemas.microsoft.com/office/drawing/2014/main" id="{10B021BC-B60A-457F-A42C-3E85D43D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7" y="5535167"/>
            <a:ext cx="3337560" cy="304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100"/>
            </a:lvl1pPr>
          </a:lstStyle>
          <a:p xmlns:a="http://schemas.openxmlformats.org/drawingml/2006/main">
            <a:pPr>
              <a:buNone/>
            </a:pPr>
            <a:r>
              <a:t>Calculated and visualized performance metrics in the web application.</a:t>
            </a:r>
          </a:p>
        </p:txBody>
      </p:sp>
      <p:sp>
        <p:nvSpPr>
          <p:cNvPr id="228" name="Shape 28">
            <a:extLst xmlns:a="http://schemas.openxmlformats.org/drawingml/2006/main">
              <a:ext uri="{FF2B5EF4-FFF2-40B4-BE49-F238E27FC236}">
                <a16:creationId xmlns:a16="http://schemas.microsoft.com/office/drawing/2014/main" id="{4DDDCABC-9717-44B7-B9A2-A0122D06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5495544"/>
            <a:ext cx="384049" cy="38404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9" name="Text 29">
            <a:extLst xmlns:a="http://schemas.openxmlformats.org/drawingml/2006/main">
              <a:ext uri="{FF2B5EF4-FFF2-40B4-BE49-F238E27FC236}">
                <a16:creationId xmlns:a16="http://schemas.microsoft.com/office/drawing/2014/main" id="{3AB33E07-9837-415F-A046-F575AC9E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5592318"/>
            <a:ext cx="384049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3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5</a:t>
            </a:r>
          </a:p>
        </p:txBody>
      </p:sp>
      <p:sp>
        <p:nvSpPr>
          <p:cNvPr id="23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5045D0A-4F84-4584-A5A9-3643F14352C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038522"/>
      </p:ext>
    </p:extLst>
  </p:cSld>
</p:sld>
</file>

<file path=ppt/slides/slide7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Text 16">
            <a:extLst xmlns:a="http://schemas.openxmlformats.org/drawingml/2006/main">
              <a:ext uri="{FF2B5EF4-FFF2-40B4-BE49-F238E27FC236}">
                <a16:creationId xmlns:a16="http://schemas.microsoft.com/office/drawing/2014/main" id="{7D0745C5-2EEE-42A7-897B-EE2B70D61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Results &amp; Analysis</a:t>
            </a:r>
          </a:p>
        </p:txBody>
      </p:sp>
      <p:sp>
        <p:nvSpPr>
          <p:cNvPr id="233" name="Shape 1">
            <a:extLst xmlns:a="http://schemas.openxmlformats.org/drawingml/2006/main">
              <a:ext uri="{FF2B5EF4-FFF2-40B4-BE49-F238E27FC236}">
                <a16:creationId xmlns:a16="http://schemas.microsoft.com/office/drawing/2014/main" id="{B7FF08DE-2F48-4B0E-A19D-78D97C4B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4" name="Shape 2">
            <a:extLst xmlns:a="http://schemas.openxmlformats.org/drawingml/2006/main">
              <a:ext uri="{FF2B5EF4-FFF2-40B4-BE49-F238E27FC236}">
                <a16:creationId xmlns:a16="http://schemas.microsoft.com/office/drawing/2014/main" id="{7D7FA3EB-2B0E-4914-8C2F-83C0702A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5" name="Text 3">
            <a:extLst xmlns:a="http://schemas.openxmlformats.org/drawingml/2006/main">
              <a:ext uri="{FF2B5EF4-FFF2-40B4-BE49-F238E27FC236}">
                <a16:creationId xmlns:a16="http://schemas.microsoft.com/office/drawing/2014/main" id="{D07FD65F-6FF6-47A3-802E-949B8A1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6152"/>
            <a:ext cx="36576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Methods Evaluated</a:t>
            </a:r>
          </a:p>
        </p:txBody>
      </p:sp>
      <p:sp>
        <p:nvSpPr>
          <p:cNvPr id="236" name="Shape 4">
            <a:extLst xmlns:a="http://schemas.openxmlformats.org/drawingml/2006/main">
              <a:ext uri="{FF2B5EF4-FFF2-40B4-BE49-F238E27FC236}">
                <a16:creationId xmlns:a16="http://schemas.microsoft.com/office/drawing/2014/main" id="{3365D527-B7D6-48C2-B4D9-687DDB5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61488"/>
            <a:ext cx="1874521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7" name="Text 5">
            <a:extLst xmlns:a="http://schemas.openxmlformats.org/drawingml/2006/main">
              <a:ext uri="{FF2B5EF4-FFF2-40B4-BE49-F238E27FC236}">
                <a16:creationId xmlns:a16="http://schemas.microsoft.com/office/drawing/2014/main" id="{23883760-F664-413D-9212-AB84FD72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36747"/>
            <a:ext cx="1728217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 b="1"/>
            </a:lvl1pPr>
          </a:lstStyle>
          <a:p xmlns:a="http://schemas.openxmlformats.org/drawingml/2006/main">
            <a:pPr>
              <a:buNone/>
            </a:pPr>
            <a:r>
              <a:t>QAOA</a:t>
            </a:r>
          </a:p>
        </p:txBody>
      </p:sp>
      <p:sp>
        <p:nvSpPr>
          <p:cNvPr id="238" name="Shape 6">
            <a:extLst xmlns:a="http://schemas.openxmlformats.org/drawingml/2006/main">
              <a:ext uri="{FF2B5EF4-FFF2-40B4-BE49-F238E27FC236}">
                <a16:creationId xmlns:a16="http://schemas.microsoft.com/office/drawing/2014/main" id="{44466E95-577B-42AA-8791-5EFFF5E0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6211" y="3300984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39" name="Shape 7">
            <a:extLst xmlns:a="http://schemas.openxmlformats.org/drawingml/2006/main">
              <a:ext uri="{FF2B5EF4-FFF2-40B4-BE49-F238E27FC236}">
                <a16:creationId xmlns:a16="http://schemas.microsoft.com/office/drawing/2014/main" id="{C3B604C5-364E-4BF4-A3AA-D964F776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761488"/>
            <a:ext cx="1874521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0" name="Text 8">
            <a:extLst xmlns:a="http://schemas.openxmlformats.org/drawingml/2006/main">
              <a:ext uri="{FF2B5EF4-FFF2-40B4-BE49-F238E27FC236}">
                <a16:creationId xmlns:a16="http://schemas.microsoft.com/office/drawing/2014/main" id="{BBD1D05C-96AD-4B47-AB70-71EE9B1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1" y="2936747"/>
            <a:ext cx="1728217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 b="1"/>
            </a:lvl1pPr>
          </a:lstStyle>
          <a:p xmlns:a="http://schemas.openxmlformats.org/drawingml/2006/main">
            <a:pPr>
              <a:buNone/>
            </a:pPr>
            <a:r>
              <a:t>Greedy scheduling</a:t>
            </a:r>
          </a:p>
        </p:txBody>
      </p:sp>
      <p:sp>
        <p:nvSpPr>
          <p:cNvPr id="241" name="Shape 9">
            <a:extLst xmlns:a="http://schemas.openxmlformats.org/drawingml/2006/main">
              <a:ext uri="{FF2B5EF4-FFF2-40B4-BE49-F238E27FC236}">
                <a16:creationId xmlns:a16="http://schemas.microsoft.com/office/drawing/2014/main" id="{8B09F21E-2B0C-4BC1-A95F-2B1F9CAA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707891" y="3300984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2" name="Shape 10">
            <a:extLst xmlns:a="http://schemas.openxmlformats.org/drawingml/2006/main">
              <a:ext uri="{FF2B5EF4-FFF2-40B4-BE49-F238E27FC236}">
                <a16:creationId xmlns:a16="http://schemas.microsoft.com/office/drawing/2014/main" id="{E9A860DA-A1C1-40CE-87A6-DF208CD8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61488"/>
            <a:ext cx="1874521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3" name="Text 11">
            <a:extLst xmlns:a="http://schemas.openxmlformats.org/drawingml/2006/main">
              <a:ext uri="{FF2B5EF4-FFF2-40B4-BE49-F238E27FC236}">
                <a16:creationId xmlns:a16="http://schemas.microsoft.com/office/drawing/2014/main" id="{17A1934F-D464-44C9-BF85-051FDC71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191" y="2860547"/>
            <a:ext cx="1728217" cy="304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 b="1"/>
            </a:lvl1pPr>
          </a:lstStyle>
          <a:p xmlns:a="http://schemas.openxmlformats.org/drawingml/2006/main">
            <a:pPr>
              <a:buNone/>
            </a:pPr>
            <a:r>
              <a:t>Classical optimization baseline</a:t>
            </a:r>
          </a:p>
        </p:txBody>
      </p:sp>
      <p:sp>
        <p:nvSpPr>
          <p:cNvPr id="244" name="Shape 12">
            <a:extLst xmlns:a="http://schemas.openxmlformats.org/drawingml/2006/main">
              <a:ext uri="{FF2B5EF4-FFF2-40B4-BE49-F238E27FC236}">
                <a16:creationId xmlns:a16="http://schemas.microsoft.com/office/drawing/2014/main" id="{19117223-4003-4777-B8A2-E3C6D5D7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9571" y="3300984"/>
            <a:ext cx="219457" cy="9144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5" name="Shape 13">
            <a:extLst xmlns:a="http://schemas.openxmlformats.org/drawingml/2006/main">
              <a:ext uri="{FF2B5EF4-FFF2-40B4-BE49-F238E27FC236}">
                <a16:creationId xmlns:a16="http://schemas.microsoft.com/office/drawing/2014/main" id="{DA721FE3-AEBF-42E2-82E4-B74068C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29000"/>
            <a:ext cx="5897880" cy="347473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6" name="Text 14">
            <a:extLst xmlns:a="http://schemas.openxmlformats.org/drawingml/2006/main">
              <a:ext uri="{FF2B5EF4-FFF2-40B4-BE49-F238E27FC236}">
                <a16:creationId xmlns:a16="http://schemas.microsoft.com/office/drawing/2014/main" id="{05876AA2-B787-4FED-8ED1-6AE64F69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6535"/>
            <a:ext cx="5897880" cy="152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1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Same test scenarios for every method</a:t>
            </a:r>
          </a:p>
        </p:txBody>
      </p:sp>
      <p:sp>
        <p:nvSpPr>
          <p:cNvPr id="247" name="Text 15">
            <a:extLst xmlns:a="http://schemas.openxmlformats.org/drawingml/2006/main">
              <a:ext uri="{FF2B5EF4-FFF2-40B4-BE49-F238E27FC236}">
                <a16:creationId xmlns:a16="http://schemas.microsoft.com/office/drawing/2014/main" id="{3A644CDD-0AA5-4D20-B7F6-1E2E8DE6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82720"/>
            <a:ext cx="5897880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b="1" spc="1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OBSERVED OUTPUT — DEMO SCENARIO IN THE APPLICATION</a:t>
            </a:r>
          </a:p>
        </p:txBody>
      </p:sp>
      <p:sp>
        <p:nvSpPr>
          <p:cNvPr id="248" name="Shape 16">
            <a:extLst xmlns:a="http://schemas.openxmlformats.org/drawingml/2006/main">
              <a:ext uri="{FF2B5EF4-FFF2-40B4-BE49-F238E27FC236}">
                <a16:creationId xmlns:a16="http://schemas.microsoft.com/office/drawing/2014/main" id="{68719C2C-7231-463B-BA87-EB76DF21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06240"/>
            <a:ext cx="1371601" cy="713233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49" name="Text 17">
            <a:extLst xmlns:a="http://schemas.openxmlformats.org/drawingml/2006/main">
              <a:ext uri="{FF2B5EF4-FFF2-40B4-BE49-F238E27FC236}">
                <a16:creationId xmlns:a16="http://schemas.microsoft.com/office/drawing/2014/main" id="{7AB8E006-C041-417D-8D9F-98DD59A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19" y="4378705"/>
            <a:ext cx="1234442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"/>
              </a:spcBef>
              <a:buNone/>
              <a:defRPr sz="800" b="1">
                <a:solidFill>
                  <a:schemeClr val="accent3"/>
                </a:solidFill>
              </a:defRPr>
            </a:pPr>
            <a:r>
              <a:t>Unmet energy</a:t>
            </a:r>
          </a:p>
          <a:p xmlns:a="http://schemas.openxmlformats.org/drawingml/2006/main">
            <a:pPr>
              <a:spcBef>
                <a:spcPts val="200"/>
              </a:spcBef>
              <a:buNone/>
              <a:defRPr sz="1500" b="1"/>
            </a:pPr>
            <a:r>
              <a:t>3.0 kWh</a:t>
            </a:r>
          </a:p>
        </p:txBody>
      </p:sp>
      <p:sp>
        <p:nvSpPr>
          <p:cNvPr id="250" name="Shape 18">
            <a:extLst xmlns:a="http://schemas.openxmlformats.org/drawingml/2006/main">
              <a:ext uri="{FF2B5EF4-FFF2-40B4-BE49-F238E27FC236}">
                <a16:creationId xmlns:a16="http://schemas.microsoft.com/office/drawing/2014/main" id="{2E80945F-797F-4C63-8803-0B75D60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39" y="4206240"/>
            <a:ext cx="1371601" cy="713233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1" name="Text 19">
            <a:extLst xmlns:a="http://schemas.openxmlformats.org/drawingml/2006/main">
              <a:ext uri="{FF2B5EF4-FFF2-40B4-BE49-F238E27FC236}">
                <a16:creationId xmlns:a16="http://schemas.microsoft.com/office/drawing/2014/main" id="{E6DD2D77-F500-47AF-B55C-C418673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9" y="4378705"/>
            <a:ext cx="1234441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"/>
              </a:spcBef>
              <a:buNone/>
              <a:defRPr sz="800" b="1">
                <a:solidFill>
                  <a:schemeClr val="accent3"/>
                </a:solidFill>
              </a:defRPr>
            </a:pPr>
            <a:r>
              <a:t>Peak load</a:t>
            </a:r>
          </a:p>
          <a:p xmlns:a="http://schemas.openxmlformats.org/drawingml/2006/main">
            <a:pPr>
              <a:spcBef>
                <a:spcPts val="200"/>
              </a:spcBef>
              <a:buNone/>
              <a:defRPr sz="1500" b="1"/>
            </a:pPr>
            <a:r>
              <a:t>3.0 kW</a:t>
            </a:r>
          </a:p>
        </p:txBody>
      </p:sp>
      <p:sp>
        <p:nvSpPr>
          <p:cNvPr id="252" name="Shape 20">
            <a:extLst xmlns:a="http://schemas.openxmlformats.org/drawingml/2006/main">
              <a:ext uri="{FF2B5EF4-FFF2-40B4-BE49-F238E27FC236}">
                <a16:creationId xmlns:a16="http://schemas.microsoft.com/office/drawing/2014/main" id="{21684A8F-215F-44AB-AFF5-D1F47B2F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06240"/>
            <a:ext cx="1371600" cy="713233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3" name="Text 21">
            <a:extLst xmlns:a="http://schemas.openxmlformats.org/drawingml/2006/main">
              <a:ext uri="{FF2B5EF4-FFF2-40B4-BE49-F238E27FC236}">
                <a16:creationId xmlns:a16="http://schemas.microsoft.com/office/drawing/2014/main" id="{0E0C90A2-0C67-419B-B91B-2322F968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4378705"/>
            <a:ext cx="1234441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"/>
              </a:spcBef>
              <a:buNone/>
              <a:defRPr sz="800" b="1">
                <a:solidFill>
                  <a:schemeClr val="accent3"/>
                </a:solidFill>
              </a:defRPr>
            </a:pPr>
            <a:r>
              <a:t>Grid-limit violation</a:t>
            </a:r>
          </a:p>
          <a:p xmlns:a="http://schemas.openxmlformats.org/drawingml/2006/main">
            <a:pPr>
              <a:spcBef>
                <a:spcPts val="200"/>
              </a:spcBef>
              <a:buNone/>
              <a:defRPr sz="1500" b="1"/>
            </a:pPr>
            <a:r>
              <a:t>0.0 kWh</a:t>
            </a:r>
          </a:p>
        </p:txBody>
      </p:sp>
      <p:sp>
        <p:nvSpPr>
          <p:cNvPr id="254" name="Shape 22">
            <a:extLst xmlns:a="http://schemas.openxmlformats.org/drawingml/2006/main">
              <a:ext uri="{FF2B5EF4-FFF2-40B4-BE49-F238E27FC236}">
                <a16:creationId xmlns:a16="http://schemas.microsoft.com/office/drawing/2014/main" id="{3AEEB79C-75A0-419E-9865-BAF8B571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59" y="4206240"/>
            <a:ext cx="1371601" cy="713233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5" name="Text 23">
            <a:extLst xmlns:a="http://schemas.openxmlformats.org/drawingml/2006/main">
              <a:ext uri="{FF2B5EF4-FFF2-40B4-BE49-F238E27FC236}">
                <a16:creationId xmlns:a16="http://schemas.microsoft.com/office/drawing/2014/main" id="{08557794-5CEC-4655-A0C6-D900D9B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399" y="4378705"/>
            <a:ext cx="1234442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200"/>
              </a:spcBef>
              <a:buNone/>
              <a:defRPr sz="800" b="1">
                <a:solidFill>
                  <a:schemeClr val="accent3"/>
                </a:solidFill>
              </a:defRPr>
            </a:pPr>
            <a:r>
              <a:t>Fairness (Jain index)</a:t>
            </a:r>
          </a:p>
          <a:p xmlns:a="http://schemas.openxmlformats.org/drawingml/2006/main">
            <a:pPr>
              <a:spcBef>
                <a:spcPts val="200"/>
              </a:spcBef>
              <a:buNone/>
              <a:defRPr sz="1500" b="1"/>
            </a:pPr>
            <a:r>
              <a:t>0.933</a:t>
            </a:r>
          </a:p>
        </p:txBody>
      </p:sp>
      <p:sp>
        <p:nvSpPr>
          <p:cNvPr id="256" name="Text 24">
            <a:extLst xmlns:a="http://schemas.openxmlformats.org/drawingml/2006/main">
              <a:ext uri="{FF2B5EF4-FFF2-40B4-BE49-F238E27FC236}">
                <a16:creationId xmlns:a16="http://schemas.microsoft.com/office/drawing/2014/main" id="{3FD5914F-D522-40D7-9C36-A76F1AE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15991"/>
            <a:ext cx="5897880" cy="127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900" i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Grid limit 10 kW · 4 time slots · 60 min per slot</a:t>
            </a:r>
          </a:p>
        </p:txBody>
      </p:sp>
      <p:sp>
        <p:nvSpPr>
          <p:cNvPr id="257" name="Shape 25">
            <a:extLst xmlns:a="http://schemas.openxmlformats.org/drawingml/2006/main">
              <a:ext uri="{FF2B5EF4-FFF2-40B4-BE49-F238E27FC236}">
                <a16:creationId xmlns:a16="http://schemas.microsoft.com/office/drawing/2014/main" id="{F8CB8E6D-7446-4FBB-BE32-1E78DD9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85232"/>
            <a:ext cx="5897880" cy="749809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DE7F1"/>
          </a:solidFill>
          <a:ln xmlns:a="http://schemas.openxmlformats.org/drawingml/2006/main" w="15875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58" name="Text 26">
            <a:extLst xmlns:a="http://schemas.openxmlformats.org/drawingml/2006/main">
              <a:ext uri="{FF2B5EF4-FFF2-40B4-BE49-F238E27FC236}">
                <a16:creationId xmlns:a16="http://schemas.microsoft.com/office/drawing/2014/main" id="{59C7CCCA-44AD-4A53-B994-90B1059C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9" y="5520436"/>
            <a:ext cx="5623562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chemeClr val="accent2"/>
                </a:solidFill>
              </a:defRPr>
            </a:pPr>
            <a:r>
              <a:t>Conclusion: </a:t>
            </a:r>
            <a:r>
              <a:rPr b="0">
                <a:solidFill>
                  <a:srgbClr val="2B1B5E"/>
                </a:solidFill>
              </a:rPr>
              <a:t>The working system generates schedules, reports peak load, unmet energy, grid violations and fairness, and supports QAOA-versus-classical comparison.</a:t>
            </a:r>
          </a:p>
        </p:txBody>
      </p:sp>
      <p:sp>
        <p:nvSpPr>
          <p:cNvPr id="259" name="Shape 27">
            <a:extLst xmlns:a="http://schemas.openxmlformats.org/drawingml/2006/main">
              <a:ext uri="{FF2B5EF4-FFF2-40B4-BE49-F238E27FC236}">
                <a16:creationId xmlns:a16="http://schemas.microsoft.com/office/drawing/2014/main" id="{25F7895C-26D9-4D92-A44C-AD6D1810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59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0" name="Text 28">
            <a:extLst xmlns:a="http://schemas.openxmlformats.org/drawingml/2006/main">
              <a:ext uri="{FF2B5EF4-FFF2-40B4-BE49-F238E27FC236}">
                <a16:creationId xmlns:a16="http://schemas.microsoft.com/office/drawing/2014/main" id="{C772241A-077A-4A0C-9911-E46A716D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492502"/>
            <a:ext cx="4114801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Implemented Evaluation Metrics</a:t>
            </a:r>
          </a:p>
        </p:txBody>
      </p:sp>
      <p:sp>
        <p:nvSpPr>
          <p:cNvPr id="261" name="Text 29">
            <a:extLst xmlns:a="http://schemas.openxmlformats.org/drawingml/2006/main">
              <a:ext uri="{FF2B5EF4-FFF2-40B4-BE49-F238E27FC236}">
                <a16:creationId xmlns:a16="http://schemas.microsoft.com/office/drawing/2014/main" id="{F0D701D2-E3CE-496C-B9CB-CBD19C1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2743199"/>
            <a:ext cx="4114801" cy="9906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 b="1">
                <a:solidFill>
                  <a:schemeClr val="accent3"/>
                </a:solidFill>
              </a:defRPr>
            </a:pPr>
            <a:r>
              <a:t>Peak Load: </a:t>
            </a:r>
            <a:r>
              <a:rPr b="0">
                <a:solidFill>
                  <a:srgbClr val="2B1B5E"/>
                </a:solidFill>
              </a:rPr>
              <a:t>Maximum total charging demand in a time slot.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 b="1">
                <a:solidFill>
                  <a:schemeClr val="accent3"/>
                </a:solidFill>
              </a:defRPr>
            </a:pPr>
            <a:r>
              <a:t>Unmet Demand: </a:t>
            </a:r>
            <a:r>
              <a:rPr b="0">
                <a:solidFill>
                  <a:srgbClr val="2B1B5E"/>
                </a:solidFill>
              </a:rPr>
              <a:t>Energy requirements not satisfied before departure.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 b="1">
                <a:solidFill>
                  <a:schemeClr val="accent3"/>
                </a:solidFill>
              </a:defRPr>
            </a:pPr>
            <a:r>
              <a:t>Grid Violations: </a:t>
            </a:r>
            <a:r>
              <a:rPr b="0">
                <a:solidFill>
                  <a:srgbClr val="2B1B5E"/>
                </a:solidFill>
              </a:rPr>
              <a:t>Magnitude of grid-capacity breaches.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 b="1">
                <a:solidFill>
                  <a:schemeClr val="accent3"/>
                </a:solidFill>
              </a:defRPr>
            </a:pPr>
            <a:r>
              <a:t>Fairness: </a:t>
            </a:r>
            <a:r>
              <a:rPr b="0">
                <a:solidFill>
                  <a:srgbClr val="2B1B5E"/>
                </a:solidFill>
              </a:rPr>
              <a:t>How equitably charging is distributed (Jain index).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 b="1">
                <a:solidFill>
                  <a:schemeClr val="accent3"/>
                </a:solidFill>
              </a:defRPr>
            </a:pPr>
            <a:r>
              <a:t>Execution Time: </a:t>
            </a:r>
            <a:r>
              <a:rPr b="0">
                <a:solidFill>
                  <a:srgbClr val="2B1B5E"/>
                </a:solidFill>
              </a:rPr>
              <a:t>Time required to obtain a schedule.</a:t>
            </a:r>
          </a:p>
        </p:txBody>
      </p:sp>
      <p:sp>
        <p:nvSpPr>
          <p:cNvPr id="262" name="Text 30">
            <a:extLst xmlns:a="http://schemas.openxmlformats.org/drawingml/2006/main">
              <a:ext uri="{FF2B5EF4-FFF2-40B4-BE49-F238E27FC236}">
                <a16:creationId xmlns:a16="http://schemas.microsoft.com/office/drawing/2014/main" id="{E0FC4D7F-BADF-44F6-9C51-5C9D28F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4860798"/>
            <a:ext cx="4114801" cy="1905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3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Limitations</a:t>
            </a:r>
          </a:p>
        </p:txBody>
      </p:sp>
      <p:sp>
        <p:nvSpPr>
          <p:cNvPr id="263" name="Text 31">
            <a:extLst xmlns:a="http://schemas.openxmlformats.org/drawingml/2006/main">
              <a:ext uri="{FF2B5EF4-FFF2-40B4-BE49-F238E27FC236}">
                <a16:creationId xmlns:a16="http://schemas.microsoft.com/office/drawing/2014/main" id="{3B0CDC23-F817-4C42-8577-D790F9EE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59" y="5102352"/>
            <a:ext cx="4114801" cy="457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/>
            </a:pPr>
            <a:r>
              <a:t>Benchmark measurements (runtime, scaling, QAOA run variability) are not reported here.</a:t>
            </a:r>
          </a:p>
          <a:p xmlns:a="http://schemas.openxmlformats.org/drawingml/2006/main">
            <a:pPr marL="177800" indent="-177800">
              <a:spcBef>
                <a:spcPts val="300"/>
              </a:spcBef>
              <a:buSzPct val="100000"/>
              <a:buChar char="•"/>
              <a:defRPr sz="1000"/>
            </a:pPr>
            <a:r>
              <a:t>No quantum advantage is claimed.</a:t>
            </a:r>
          </a:p>
        </p:txBody>
      </p:sp>
      <p:sp>
        <p:nvSpPr>
          <p:cNvPr id="26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AF8EE-41C9-441E-B46A-37BD3E9CA78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79959485"/>
      </p:ext>
    </p:extLst>
  </p:cSld>
</p:sld>
</file>

<file path=ppt/slides/slide8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Text 16">
            <a:extLst xmlns:a="http://schemas.openxmlformats.org/drawingml/2006/main">
              <a:ext uri="{FF2B5EF4-FFF2-40B4-BE49-F238E27FC236}">
                <a16:creationId xmlns:a16="http://schemas.microsoft.com/office/drawing/2014/main" id="{03100E6C-168D-4461-8255-68AE2BCDA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 &amp; Real-World Applications</a:t>
            </a:r>
          </a:p>
        </p:txBody>
      </p:sp>
      <p:sp>
        <p:nvSpPr>
          <p:cNvPr id="267" name="Shape 1">
            <a:extLst xmlns:a="http://schemas.openxmlformats.org/drawingml/2006/main">
              <a:ext uri="{FF2B5EF4-FFF2-40B4-BE49-F238E27FC236}">
                <a16:creationId xmlns:a16="http://schemas.microsoft.com/office/drawing/2014/main" id="{663E5A40-D95E-4493-B5DC-50F5FF19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8" name="Shape 2">
            <a:extLst xmlns:a="http://schemas.openxmlformats.org/drawingml/2006/main">
              <a:ext uri="{FF2B5EF4-FFF2-40B4-BE49-F238E27FC236}">
                <a16:creationId xmlns:a16="http://schemas.microsoft.com/office/drawing/2014/main" id="{AED912E9-C41C-489A-A36A-062A009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69" name="Text 3">
            <a:extLst xmlns:a="http://schemas.openxmlformats.org/drawingml/2006/main">
              <a:ext uri="{FF2B5EF4-FFF2-40B4-BE49-F238E27FC236}">
                <a16:creationId xmlns:a16="http://schemas.microsoft.com/office/drawing/2014/main" id="{364AD648-512C-495B-BE41-826853BE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6152"/>
            <a:ext cx="45720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Impact</a:t>
            </a:r>
          </a:p>
        </p:txBody>
      </p:sp>
      <p:sp>
        <p:nvSpPr>
          <p:cNvPr id="270" name="Text 4">
            <a:extLst xmlns:a="http://schemas.openxmlformats.org/drawingml/2006/main">
              <a:ext uri="{FF2B5EF4-FFF2-40B4-BE49-F238E27FC236}">
                <a16:creationId xmlns:a16="http://schemas.microsoft.com/office/drawing/2014/main" id="{4D7E0100-FD1C-4309-8216-29A39333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79" y="2834639"/>
            <a:ext cx="6583682" cy="21209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300" b="1">
                <a:solidFill>
                  <a:schemeClr val="accent3"/>
                </a:solidFill>
              </a:defRPr>
            </a:pPr>
            <a:r>
              <a:t>Grid Sustainability: </a:t>
            </a:r>
            <a:r>
              <a:rPr b="0">
                <a:solidFill>
                  <a:srgbClr val="2B1B5E"/>
                </a:solidFill>
              </a:rPr>
              <a:t>Schedules are evaluated against peak demand and grid limits.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300" b="1">
                <a:solidFill>
                  <a:schemeClr val="accent3"/>
                </a:solidFill>
              </a:defRPr>
            </a:pPr>
            <a:r>
              <a:t>Fair Access: </a:t>
            </a:r>
            <a:r>
              <a:rPr b="0">
                <a:solidFill>
                  <a:srgbClr val="2B1B5E"/>
                </a:solidFill>
              </a:rPr>
              <a:t>Fairness (Jain index) quantifies how limited capacity is shared among EV users.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300" b="1">
                <a:solidFill>
                  <a:schemeClr val="accent3"/>
                </a:solidFill>
              </a:defRPr>
            </a:pPr>
            <a:r>
              <a:t>User Convenience: </a:t>
            </a:r>
            <a:r>
              <a:rPr b="0">
                <a:solidFill>
                  <a:srgbClr val="2B1B5E"/>
                </a:solidFill>
              </a:rPr>
              <a:t>Schedules account for energy needs, departure deadlines and priorities.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300" b="1">
                <a:solidFill>
                  <a:schemeClr val="accent3"/>
                </a:solidFill>
              </a:defRPr>
            </a:pPr>
            <a:r>
              <a:t>Infrastructure Planning: </a:t>
            </a:r>
            <a:r>
              <a:rPr b="0">
                <a:solidFill>
                  <a:srgbClr val="2B1B5E"/>
                </a:solidFill>
              </a:rPr>
              <a:t>Shows operators the trade-offs between capacity, demand, and fairness.</a:t>
            </a:r>
          </a:p>
          <a:p xmlns:a="http://schemas.openxmlformats.org/drawingml/2006/main">
            <a:pPr marL="177800" indent="-177800">
              <a:spcBef>
                <a:spcPts val="800"/>
              </a:spcBef>
              <a:buSzPct val="100000"/>
              <a:buChar char="•"/>
              <a:defRPr sz="1300" b="1">
                <a:solidFill>
                  <a:schemeClr val="accent3"/>
                </a:solidFill>
              </a:defRPr>
            </a:pPr>
            <a:r>
              <a:t>Quantum Research: </a:t>
            </a:r>
            <a:r>
              <a:rPr b="0">
                <a:solidFill>
                  <a:srgbClr val="2B1B5E"/>
                </a:solidFill>
              </a:rPr>
              <a:t>Provides a testbed for hybrid quantum-classical optimization in energy management.</a:t>
            </a:r>
          </a:p>
        </p:txBody>
      </p:sp>
      <p:sp>
        <p:nvSpPr>
          <p:cNvPr id="271" name="Shape 5">
            <a:extLst xmlns:a="http://schemas.openxmlformats.org/drawingml/2006/main">
              <a:ext uri="{FF2B5EF4-FFF2-40B4-BE49-F238E27FC236}">
                <a16:creationId xmlns:a16="http://schemas.microsoft.com/office/drawing/2014/main" id="{A7012FD6-7506-4B5D-AC6D-416470B4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2" name="Text 6">
            <a:extLst xmlns:a="http://schemas.openxmlformats.org/drawingml/2006/main">
              <a:ext uri="{FF2B5EF4-FFF2-40B4-BE49-F238E27FC236}">
                <a16:creationId xmlns:a16="http://schemas.microsoft.com/office/drawing/2014/main" id="{7B43C3BA-E312-477C-9801-FC4BB490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86152"/>
            <a:ext cx="3383280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Potential Applications</a:t>
            </a:r>
          </a:p>
        </p:txBody>
      </p:sp>
      <p:sp>
        <p:nvSpPr>
          <p:cNvPr id="273" name="Shape 7">
            <a:extLst xmlns:a="http://schemas.openxmlformats.org/drawingml/2006/main">
              <a:ext uri="{FF2B5EF4-FFF2-40B4-BE49-F238E27FC236}">
                <a16:creationId xmlns:a16="http://schemas.microsoft.com/office/drawing/2014/main" id="{BEC9DB53-DA85-4C08-AAC3-AE96CF0B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80360"/>
            <a:ext cx="3337560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4" name="Text 8">
            <a:extLst xmlns:a="http://schemas.openxmlformats.org/drawingml/2006/main">
              <a:ext uri="{FF2B5EF4-FFF2-40B4-BE49-F238E27FC236}">
                <a16:creationId xmlns:a16="http://schemas.microsoft.com/office/drawing/2014/main" id="{5D03D4FA-FD04-497A-A357-0C6821FA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3042919"/>
            <a:ext cx="333756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/>
            </a:lvl1pPr>
          </a:lstStyle>
          <a:p xmlns:a="http://schemas.openxmlformats.org/drawingml/2006/main">
            <a:pPr>
              <a:buNone/>
            </a:pPr>
            <a:r>
              <a:t>Public EV charging hubs</a:t>
            </a:r>
          </a:p>
        </p:txBody>
      </p:sp>
      <p:sp>
        <p:nvSpPr>
          <p:cNvPr id="275" name="Shape 9">
            <a:extLst xmlns:a="http://schemas.openxmlformats.org/drawingml/2006/main">
              <a:ext uri="{FF2B5EF4-FFF2-40B4-BE49-F238E27FC236}">
                <a16:creationId xmlns:a16="http://schemas.microsoft.com/office/drawing/2014/main" id="{967F139A-9C7E-4B9A-B344-233F13A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0440"/>
            <a:ext cx="3337560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6" name="Text 10">
            <a:extLst xmlns:a="http://schemas.openxmlformats.org/drawingml/2006/main">
              <a:ext uri="{FF2B5EF4-FFF2-40B4-BE49-F238E27FC236}">
                <a16:creationId xmlns:a16="http://schemas.microsoft.com/office/drawing/2014/main" id="{47D610D3-7B02-4B49-BCCA-1FFA37E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3682999"/>
            <a:ext cx="333756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/>
            </a:lvl1pPr>
          </a:lstStyle>
          <a:p xmlns:a="http://schemas.openxmlformats.org/drawingml/2006/main">
            <a:pPr>
              <a:buNone/>
            </a:pPr>
            <a:r>
              <a:t>Commercial parking facilities</a:t>
            </a:r>
          </a:p>
        </p:txBody>
      </p:sp>
      <p:sp>
        <p:nvSpPr>
          <p:cNvPr id="277" name="Shape 11">
            <a:extLst xmlns:a="http://schemas.openxmlformats.org/drawingml/2006/main">
              <a:ext uri="{FF2B5EF4-FFF2-40B4-BE49-F238E27FC236}">
                <a16:creationId xmlns:a16="http://schemas.microsoft.com/office/drawing/2014/main" id="{4B6796F8-ACB4-4DD6-8B7B-3C336F0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60520"/>
            <a:ext cx="3337560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78" name="Text 12">
            <a:extLst xmlns:a="http://schemas.openxmlformats.org/drawingml/2006/main">
              <a:ext uri="{FF2B5EF4-FFF2-40B4-BE49-F238E27FC236}">
                <a16:creationId xmlns:a16="http://schemas.microsoft.com/office/drawing/2014/main" id="{0507F1C8-4CF9-4F5C-9C29-CABAFF33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4323079"/>
            <a:ext cx="333756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/>
            </a:lvl1pPr>
          </a:lstStyle>
          <a:p xmlns:a="http://schemas.openxmlformats.org/drawingml/2006/main">
            <a:pPr>
              <a:buNone/>
            </a:pPr>
            <a:r>
              <a:t>Workplace charging</a:t>
            </a:r>
          </a:p>
        </p:txBody>
      </p:sp>
      <p:sp>
        <p:nvSpPr>
          <p:cNvPr id="279" name="Shape 13">
            <a:extLst xmlns:a="http://schemas.openxmlformats.org/drawingml/2006/main">
              <a:ext uri="{FF2B5EF4-FFF2-40B4-BE49-F238E27FC236}">
                <a16:creationId xmlns:a16="http://schemas.microsoft.com/office/drawing/2014/main" id="{B3E12071-1FA7-4C83-B40E-DB0EA39F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00600"/>
            <a:ext cx="33375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0" name="Text 14">
            <a:extLst xmlns:a="http://schemas.openxmlformats.org/drawingml/2006/main">
              <a:ext uri="{FF2B5EF4-FFF2-40B4-BE49-F238E27FC236}">
                <a16:creationId xmlns:a16="http://schemas.microsoft.com/office/drawing/2014/main" id="{6BD5362B-AC8C-4C4C-B8DA-1B974E39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4963159"/>
            <a:ext cx="333756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/>
            </a:lvl1pPr>
          </a:lstStyle>
          <a:p xmlns:a="http://schemas.openxmlformats.org/drawingml/2006/main">
            <a:pPr>
              <a:buNone/>
            </a:pPr>
            <a:r>
              <a:t>Fleet depots</a:t>
            </a:r>
          </a:p>
        </p:txBody>
      </p:sp>
      <p:sp>
        <p:nvSpPr>
          <p:cNvPr id="281" name="Shape 15">
            <a:extLst xmlns:a="http://schemas.openxmlformats.org/drawingml/2006/main">
              <a:ext uri="{FF2B5EF4-FFF2-40B4-BE49-F238E27FC236}">
                <a16:creationId xmlns:a16="http://schemas.microsoft.com/office/drawing/2014/main" id="{36800D4B-A756-4C14-A8C6-9B7674C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40679"/>
            <a:ext cx="3337560" cy="502921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0FF"/>
          </a:solidFill>
          <a:ln xmlns:a="http://schemas.openxmlformats.org/drawingml/2006/main" w="15875">
            <a:solidFill>
              <a:schemeClr val="accent1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2" name="Text 16">
            <a:extLst xmlns:a="http://schemas.openxmlformats.org/drawingml/2006/main">
              <a:ext uri="{FF2B5EF4-FFF2-40B4-BE49-F238E27FC236}">
                <a16:creationId xmlns:a16="http://schemas.microsoft.com/office/drawing/2014/main" id="{A29FD2C7-AE18-4744-B085-711376A1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999" y="5603239"/>
            <a:ext cx="333756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 algn="ctr">
              <a:buNone/>
              <a:defRPr sz="1200" b="1"/>
            </a:lvl1pPr>
          </a:lstStyle>
          <a:p xmlns:a="http://schemas.openxmlformats.org/drawingml/2006/main">
            <a:pPr>
              <a:buNone/>
            </a:pPr>
            <a:r>
              <a:t>Smart-grid planning</a:t>
            </a:r>
          </a:p>
        </p:txBody>
      </p:sp>
      <p:sp>
        <p:nvSpPr>
          <p:cNvPr id="28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CF2615A-8974-4A06-8692-06D58DB2BCD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716954992"/>
      </p:ext>
    </p:extLst>
  </p:cSld>
</p:sld>
</file>

<file path=ppt/slides/slide9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Text 16">
            <a:extLst xmlns:a="http://schemas.openxmlformats.org/drawingml/2006/main">
              <a:ext uri="{FF2B5EF4-FFF2-40B4-BE49-F238E27FC236}">
                <a16:creationId xmlns:a16="http://schemas.microsoft.com/office/drawing/2014/main" id="{57BC4AE3-D8D7-42D4-BCB2-5554766BA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1791" y="1097280"/>
            <a:ext cx="8412482" cy="7772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Challenges &amp; Future Scope</a:t>
            </a:r>
          </a:p>
        </p:txBody>
      </p:sp>
      <p:sp>
        <p:nvSpPr>
          <p:cNvPr id="286" name="Shape 1">
            <a:extLst xmlns:a="http://schemas.openxmlformats.org/drawingml/2006/main">
              <a:ext uri="{FF2B5EF4-FFF2-40B4-BE49-F238E27FC236}">
                <a16:creationId xmlns:a16="http://schemas.microsoft.com/office/drawing/2014/main" id="{A44C2443-B423-4F54-BB8F-9D6D8067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240279"/>
            <a:ext cx="10972801" cy="3931921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7" name="Shape 2">
            <a:extLst xmlns:a="http://schemas.openxmlformats.org/drawingml/2006/main">
              <a:ext uri="{FF2B5EF4-FFF2-40B4-BE49-F238E27FC236}">
                <a16:creationId xmlns:a16="http://schemas.microsoft.com/office/drawing/2014/main" id="{05F7BF99-2099-4E6D-9888-FEDECA67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235707"/>
            <a:ext cx="1115568" cy="9144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88" name="Text 3">
            <a:extLst xmlns:a="http://schemas.openxmlformats.org/drawingml/2006/main">
              <a:ext uri="{FF2B5EF4-FFF2-40B4-BE49-F238E27FC236}">
                <a16:creationId xmlns:a16="http://schemas.microsoft.com/office/drawing/2014/main" id="{EB32DF2D-0D59-41B9-B503-7339734A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86152"/>
            <a:ext cx="3840480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Challenges &amp; Limitations</a:t>
            </a:r>
          </a:p>
        </p:txBody>
      </p:sp>
      <p:sp>
        <p:nvSpPr>
          <p:cNvPr id="289" name="Text 4">
            <a:extLst xmlns:a="http://schemas.openxmlformats.org/drawingml/2006/main">
              <a:ext uri="{FF2B5EF4-FFF2-40B4-BE49-F238E27FC236}">
                <a16:creationId xmlns:a16="http://schemas.microsoft.com/office/drawing/2014/main" id="{2B423B4F-B213-4356-9751-07F5B938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16351"/>
            <a:ext cx="3840480" cy="16256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Encoding charging constraints into a compact binary optimization model.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Managing QAOA circuit depth, parameter tuning, and sampling variability.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Ensuring fair comparison with classical optimization methods.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Scaling beyond small demonstration scenarios.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Balancing multiple objectives without violating hard grid constraints.</a:t>
            </a:r>
          </a:p>
        </p:txBody>
      </p:sp>
      <p:sp>
        <p:nvSpPr>
          <p:cNvPr id="290" name="Shape 5">
            <a:extLst xmlns:a="http://schemas.openxmlformats.org/drawingml/2006/main">
              <a:ext uri="{FF2B5EF4-FFF2-40B4-BE49-F238E27FC236}">
                <a16:creationId xmlns:a16="http://schemas.microsoft.com/office/drawing/2014/main" id="{C9C45781-74A5-4808-9A72-62584A51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46320" y="2514599"/>
            <a:ext cx="1" cy="347472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1" name="Text 6">
            <a:extLst xmlns:a="http://schemas.openxmlformats.org/drawingml/2006/main">
              <a:ext uri="{FF2B5EF4-FFF2-40B4-BE49-F238E27FC236}">
                <a16:creationId xmlns:a16="http://schemas.microsoft.com/office/drawing/2014/main" id="{93AD08CF-293E-423A-89F7-9F0FCF94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86152"/>
            <a:ext cx="3657600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Future Improvements</a:t>
            </a:r>
          </a:p>
        </p:txBody>
      </p:sp>
      <p:sp>
        <p:nvSpPr>
          <p:cNvPr id="292" name="Text 7">
            <a:extLst xmlns:a="http://schemas.openxmlformats.org/drawingml/2006/main">
              <a:ext uri="{FF2B5EF4-FFF2-40B4-BE49-F238E27FC236}">
                <a16:creationId xmlns:a16="http://schemas.microsoft.com/office/drawing/2014/main" id="{6F469C25-5577-4205-849A-2186DBDA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6351"/>
            <a:ext cx="3657600" cy="147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Test larger and more diverse EV charging scenarios.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Explore adaptive QAOA parameters and alternative quantum optimization methods.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Incorporate renewable energy availability and time-of-use electricity prices.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Support real-time charging decisions from changing demand forecasts.</a:t>
            </a:r>
          </a:p>
          <a:p xmlns:a="http://schemas.openxmlformats.org/drawingml/2006/main">
            <a:pPr marL="177800" indent="-177800">
              <a:spcBef>
                <a:spcPts val="500"/>
              </a:spcBef>
              <a:buSzPct val="100000"/>
              <a:buChar char="•"/>
              <a:defRPr sz="1100"/>
            </a:pPr>
            <a:r>
              <a:t>Evaluate performance on available quantum hardware.</a:t>
            </a:r>
          </a:p>
        </p:txBody>
      </p:sp>
      <p:sp>
        <p:nvSpPr>
          <p:cNvPr id="293" name="Shape 8">
            <a:extLst xmlns:a="http://schemas.openxmlformats.org/drawingml/2006/main">
              <a:ext uri="{FF2B5EF4-FFF2-40B4-BE49-F238E27FC236}">
                <a16:creationId xmlns:a16="http://schemas.microsoft.com/office/drawing/2014/main" id="{54098FA5-82C4-4FEC-B2D3-55078CD8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14600"/>
            <a:ext cx="2468880" cy="3474721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chemeClr val="accent3"/>
          </a:solidFill>
          <a:ln xmlns:a="http://schemas.openxmlformats.org/drawingml/2006/main" w="12700">
            <a:solidFill>
              <a:schemeClr val="accent3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94" name="Text 9">
            <a:extLst xmlns:a="http://schemas.openxmlformats.org/drawingml/2006/main">
              <a:ext uri="{FF2B5EF4-FFF2-40B4-BE49-F238E27FC236}">
                <a16:creationId xmlns:a16="http://schemas.microsoft.com/office/drawing/2014/main" id="{ABD9ED7D-AEAE-4A75-98B9-A62CDDDE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651760"/>
            <a:ext cx="2103121" cy="1689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1000"/>
              </a:spcBef>
              <a:buNone/>
              <a:defRPr sz="1000" b="1" spc="300">
                <a:solidFill>
                  <a:srgbClr val="F7B6D3"/>
                </a:solidFill>
              </a:defRPr>
            </a:pPr>
            <a:r>
              <a:t>SUMMARY</a:t>
            </a:r>
          </a:p>
          <a:p xmlns:a="http://schemas.openxmlformats.org/drawingml/2006/main">
            <a:pPr>
              <a:spcBef>
                <a:spcPts val="1000"/>
              </a:spcBef>
              <a:buNone/>
              <a:defRPr sz="1200" b="1">
                <a:solidFill>
                  <a:srgbClr val="FFFFFF"/>
                </a:solidFill>
              </a:defRPr>
            </a:pPr>
            <a:r>
              <a:t>We built, implemented, tested and demonstrated Q-Charge Fair: a transparent, grid-aware scheduling system whose quantum-advantage claims are reserved for measured evidence.</a:t>
            </a:r>
          </a:p>
        </p:txBody>
      </p:sp>
      <p:sp>
        <p:nvSpPr>
          <p:cNvPr id="29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4F628F7-335F-437A-BAE4-74D7529168C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82721" y="6537959"/>
            <a:ext cx="185997" cy="2438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187248124"/>
      </p:ext>
    </p:extLst>
  </p:cSld>
</p:sld>
</file>

<file path=ppt/slides/slide10.xml><?xml version="1.0" encoding="utf-8"?>
<p:sld xmlns:p="http://schemas.openxmlformats.org/presentationml/2006/main" showMasterSp="1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7" name="Text 0">
            <a:extLst xmlns:a="http://schemas.openxmlformats.org/drawingml/2006/main">
              <a:ext uri="{FF2B5EF4-FFF2-40B4-BE49-F238E27FC236}">
                <a16:creationId xmlns:a16="http://schemas.microsoft.com/office/drawing/2014/main" id="{1AAD9624-6518-4C85-8F56-E45994A3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1236979"/>
            <a:ext cx="2743201" cy="1778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200" b="1" spc="6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CLOSING</a:t>
            </a:r>
          </a:p>
        </p:txBody>
      </p:sp>
      <p:sp>
        <p:nvSpPr>
          <p:cNvPr id="298" name="Text 1">
            <a:extLst xmlns:a="http://schemas.openxmlformats.org/drawingml/2006/main">
              <a:ext uri="{FF2B5EF4-FFF2-40B4-BE49-F238E27FC236}">
                <a16:creationId xmlns:a16="http://schemas.microsoft.com/office/drawing/2014/main" id="{047EACBC-4B34-45E6-AD63-9256D92A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1543050"/>
            <a:ext cx="6400801" cy="800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5400" b="1"/>
            </a:lvl1pPr>
          </a:lstStyle>
          <a:p xmlns:a="http://schemas.openxmlformats.org/drawingml/2006/main">
            <a:pPr>
              <a:buNone/>
            </a:pPr>
            <a:r>
              <a:t>Thank You</a:t>
            </a:r>
          </a:p>
        </p:txBody>
      </p:sp>
      <p:sp>
        <p:nvSpPr>
          <p:cNvPr id="299" name="Text 2">
            <a:extLst xmlns:a="http://schemas.openxmlformats.org/drawingml/2006/main">
              <a:ext uri="{FF2B5EF4-FFF2-40B4-BE49-F238E27FC236}">
                <a16:creationId xmlns:a16="http://schemas.microsoft.com/office/drawing/2014/main" id="{553D2408-649E-4FFD-987F-C95167E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59" y="2457450"/>
            <a:ext cx="6400801" cy="8001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54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Questions?</a:t>
            </a:r>
          </a:p>
        </p:txBody>
      </p:sp>
      <p:sp>
        <p:nvSpPr>
          <p:cNvPr id="300" name="Text 3">
            <a:extLst xmlns:a="http://schemas.openxmlformats.org/drawingml/2006/main">
              <a:ext uri="{FF2B5EF4-FFF2-40B4-BE49-F238E27FC236}">
                <a16:creationId xmlns:a16="http://schemas.microsoft.com/office/drawing/2014/main" id="{791BB0F3-EE92-45AA-96E5-445FC7C9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578860"/>
            <a:ext cx="5943601" cy="2032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>
            <a:lvl1pPr>
              <a:buNone/>
              <a:defRPr sz="1400" i="1" spc="100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Inspiring Minds. Shaping Tomorrow.</a:t>
            </a:r>
          </a:p>
        </p:txBody>
      </p:sp>
      <p:pic>
        <p:nvPicPr>
          <p:cNvPr id="301" name="Image 0">
            <a:extLst xmlns:a="http://schemas.openxmlformats.org/drawingml/2006/main">
              <a:ext uri="{FF2B5EF4-FFF2-40B4-BE49-F238E27FC236}">
                <a16:creationId xmlns:a16="http://schemas.microsoft.com/office/drawing/2014/main" id="{51600528-A19D-405C-9FA3-08260A7407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a6746e1d6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52341" y="1590949"/>
            <a:ext cx="4019241" cy="401924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02" name="Image 1">
            <a:extLst xmlns:a="http://schemas.openxmlformats.org/drawingml/2006/main">
              <a:ext uri="{FF2B5EF4-FFF2-40B4-BE49-F238E27FC236}">
                <a16:creationId xmlns:a16="http://schemas.microsoft.com/office/drawing/2014/main" id="{2AB95B37-785A-4886-B595-6256461F3C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e136a0dad4a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5721" y="1239266"/>
            <a:ext cx="1004811" cy="602887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03" name="Image 2">
            <a:extLst xmlns:a="http://schemas.openxmlformats.org/drawingml/2006/main">
              <a:ext uri="{FF2B5EF4-FFF2-40B4-BE49-F238E27FC236}">
                <a16:creationId xmlns:a16="http://schemas.microsoft.com/office/drawing/2014/main" id="{A5BEC571-E960-4213-9744-305D9347F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8a4195a4641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1802" y="5358986"/>
            <a:ext cx="586140" cy="35168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pic>
        <p:nvPicPr>
          <p:cNvPr id="304" name="Image 3">
            <a:extLst xmlns:a="http://schemas.openxmlformats.org/drawingml/2006/main">
              <a:ext uri="{FF2B5EF4-FFF2-40B4-BE49-F238E27FC236}">
                <a16:creationId xmlns:a16="http://schemas.microsoft.com/office/drawing/2014/main" id="{B40FF918-C7C5-4D48-BBD1-11D6E9FC3F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e840da93847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2670" y="5367359"/>
            <a:ext cx="586140" cy="35168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05" name="Shape 4">
            <a:extLst xmlns:a="http://schemas.openxmlformats.org/drawingml/2006/main">
              <a:ext uri="{FF2B5EF4-FFF2-40B4-BE49-F238E27FC236}">
                <a16:creationId xmlns:a16="http://schemas.microsoft.com/office/drawing/2014/main" id="{2152F55E-8A00-4804-8FFE-E91F5641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931920"/>
            <a:ext cx="30175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6" name="Text 5">
            <a:extLst xmlns:a="http://schemas.openxmlformats.org/drawingml/2006/main">
              <a:ext uri="{FF2B5EF4-FFF2-40B4-BE49-F238E27FC236}">
                <a16:creationId xmlns:a16="http://schemas.microsoft.com/office/drawing/2014/main" id="{C80FE790-F4A7-4C5F-9E4B-BD5B4270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3986784"/>
            <a:ext cx="2761489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</a:t>
            </a:r>
          </a:p>
          <a:p xmlns:a="http://schemas.openxmlformats.org/drawingml/2006/main">
            <a:pPr>
              <a:buNone/>
              <a:defRPr sz="1100" i="1"/>
            </a:pPr>
            <a:r>
              <a:t>Qubits Nexus</a:t>
            </a:r>
          </a:p>
        </p:txBody>
      </p:sp>
      <p:sp>
        <p:nvSpPr>
          <p:cNvPr id="307" name="Shape 6">
            <a:extLst xmlns:a="http://schemas.openxmlformats.org/drawingml/2006/main">
              <a:ext uri="{FF2B5EF4-FFF2-40B4-BE49-F238E27FC236}">
                <a16:creationId xmlns:a16="http://schemas.microsoft.com/office/drawing/2014/main" id="{95B93286-9823-470A-BED4-FDAEFD2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328" y="3931920"/>
            <a:ext cx="301752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08" name="Text 7">
            <a:extLst xmlns:a="http://schemas.openxmlformats.org/drawingml/2006/main">
              <a:ext uri="{FF2B5EF4-FFF2-40B4-BE49-F238E27FC236}">
                <a16:creationId xmlns:a16="http://schemas.microsoft.com/office/drawing/2014/main" id="{5E097D5B-A7A4-4511-BE7A-DEF81B1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44" y="3986784"/>
            <a:ext cx="2761489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ID</a:t>
            </a:r>
          </a:p>
          <a:p xmlns:a="http://schemas.openxmlformats.org/drawingml/2006/main">
            <a:pPr>
              <a:buNone/>
              <a:defRPr sz="1100" i="1"/>
            </a:pPr>
            <a:r>
              <a:t>VTU-QFF-HC-0029</a:t>
            </a:r>
          </a:p>
        </p:txBody>
      </p:sp>
      <p:sp>
        <p:nvSpPr>
          <p:cNvPr id="309" name="Shape 8">
            <a:extLst xmlns:a="http://schemas.openxmlformats.org/drawingml/2006/main">
              <a:ext uri="{FF2B5EF4-FFF2-40B4-BE49-F238E27FC236}">
                <a16:creationId xmlns:a16="http://schemas.microsoft.com/office/drawing/2014/main" id="{D41E7476-4B17-48E2-BADB-F4EA5F5F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498847"/>
            <a:ext cx="219456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0" name="Text 9">
            <a:extLst xmlns:a="http://schemas.openxmlformats.org/drawingml/2006/main">
              <a:ext uri="{FF2B5EF4-FFF2-40B4-BE49-F238E27FC236}">
                <a16:creationId xmlns:a16="http://schemas.microsoft.com/office/drawing/2014/main" id="{53690750-0D5E-4EF8-9B5A-A608B99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4553711"/>
            <a:ext cx="1938529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LEADER</a:t>
            </a:r>
          </a:p>
          <a:p xmlns:a="http://schemas.openxmlformats.org/drawingml/2006/main">
            <a:pPr>
              <a:buNone/>
              <a:defRPr sz="1100" i="1"/>
            </a:pPr>
            <a:r>
              <a:t>Aliya Mulla</a:t>
            </a:r>
          </a:p>
        </p:txBody>
      </p:sp>
      <p:sp>
        <p:nvSpPr>
          <p:cNvPr id="311" name="Shape 10">
            <a:extLst xmlns:a="http://schemas.openxmlformats.org/drawingml/2006/main">
              <a:ext uri="{FF2B5EF4-FFF2-40B4-BE49-F238E27FC236}">
                <a16:creationId xmlns:a16="http://schemas.microsoft.com/office/drawing/2014/main" id="{F7C433B5-8431-4D98-9C90-178F8ACF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7" y="4498847"/>
            <a:ext cx="384048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2" name="Text 11">
            <a:extLst xmlns:a="http://schemas.openxmlformats.org/drawingml/2006/main">
              <a:ext uri="{FF2B5EF4-FFF2-40B4-BE49-F238E27FC236}">
                <a16:creationId xmlns:a16="http://schemas.microsoft.com/office/drawing/2014/main" id="{49C1A5E2-5964-43E3-BD24-EDA9BB1D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4553711"/>
            <a:ext cx="3584448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TEAM MEMBERS</a:t>
            </a:r>
          </a:p>
          <a:p xmlns:a="http://schemas.openxmlformats.org/drawingml/2006/main">
            <a:pPr>
              <a:buNone/>
              <a:defRPr sz="1100" i="1"/>
            </a:pPr>
            <a:r>
              <a:t>Arsin Imtiyaz Karadagi, Zaveerya Mulla</a:t>
            </a:r>
          </a:p>
        </p:txBody>
      </p:sp>
      <p:sp>
        <p:nvSpPr>
          <p:cNvPr id="313" name="Shape 12">
            <a:extLst xmlns:a="http://schemas.openxmlformats.org/drawingml/2006/main">
              <a:ext uri="{FF2B5EF4-FFF2-40B4-BE49-F238E27FC236}">
                <a16:creationId xmlns:a16="http://schemas.microsoft.com/office/drawing/2014/main" id="{2900A63C-76A5-44A0-BF82-F95A1687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065776"/>
            <a:ext cx="6181345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4" name="Text 13">
            <a:extLst xmlns:a="http://schemas.openxmlformats.org/drawingml/2006/main">
              <a:ext uri="{FF2B5EF4-FFF2-40B4-BE49-F238E27FC236}">
                <a16:creationId xmlns:a16="http://schemas.microsoft.com/office/drawing/2014/main" id="{F2389579-2C6E-4A09-A84B-1FA8954E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5120640"/>
            <a:ext cx="5925313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GITHUB IDS</a:t>
            </a:r>
          </a:p>
          <a:p xmlns:a="http://schemas.openxmlformats.org/drawingml/2006/main">
            <a:pPr>
              <a:buNone/>
              <a:defRPr sz="1100" i="1"/>
            </a:pPr>
            <a:r>
              <a:t>aliyamulla098-spec  ·  Arsinkaradagi  ·  ZaveeryaMulla</a:t>
            </a:r>
          </a:p>
        </p:txBody>
      </p:sp>
      <p:sp>
        <p:nvSpPr>
          <p:cNvPr id="315" name="Shape 14">
            <a:extLst xmlns:a="http://schemas.openxmlformats.org/drawingml/2006/main">
              <a:ext uri="{FF2B5EF4-FFF2-40B4-BE49-F238E27FC236}">
                <a16:creationId xmlns:a16="http://schemas.microsoft.com/office/drawing/2014/main" id="{D99B90A0-805F-42BF-A7FF-41D286D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32703"/>
            <a:ext cx="251460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6" name="Text 15">
            <a:extLst xmlns:a="http://schemas.openxmlformats.org/drawingml/2006/main">
              <a:ext uri="{FF2B5EF4-FFF2-40B4-BE49-F238E27FC236}">
                <a16:creationId xmlns:a16="http://schemas.microsoft.com/office/drawing/2014/main" id="{3EE95522-14B6-4EE1-A254-40BA01B5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87567"/>
            <a:ext cx="2258568" cy="279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EMAIL</a:t>
            </a:r>
          </a:p>
          <a:p xmlns:a="http://schemas.openxmlformats.org/drawingml/2006/main">
            <a:pPr>
              <a:buNone/>
              <a:defRPr sz="1100" i="1"/>
            </a:pPr>
            <a:r>
              <a:t>aliyamulla098@gmail.com</a:t>
            </a:r>
          </a:p>
        </p:txBody>
      </p:sp>
      <p:sp>
        <p:nvSpPr>
          <p:cNvPr id="317" name="Shape 16">
            <a:extLst xmlns:a="http://schemas.openxmlformats.org/drawingml/2006/main">
              <a:ext uri="{FF2B5EF4-FFF2-40B4-BE49-F238E27FC236}">
                <a16:creationId xmlns:a16="http://schemas.microsoft.com/office/drawing/2014/main" id="{23607895-ECB9-4CF1-9B72-C31BEF0B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5632703"/>
            <a:ext cx="3520441" cy="502921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chemeClr val="accent5"/>
            </a:solidFill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18" name="Text 17">
            <a:extLst xmlns:a="http://schemas.openxmlformats.org/drawingml/2006/main">
              <a:ext uri="{FF2B5EF4-FFF2-40B4-BE49-F238E27FC236}">
                <a16:creationId xmlns:a16="http://schemas.microsoft.com/office/drawing/2014/main" id="{D22F3241-40EC-4F78-B9F3-D42FAAF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3" y="5687567"/>
            <a:ext cx="3264409" cy="2667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00" b="1" spc="200">
                <a:solidFill>
                  <a:schemeClr val="accent3"/>
                </a:solidFill>
              </a:defRPr>
            </a:pPr>
            <a:r>
              <a:t>INSTITUTION · COUNTRY</a:t>
            </a:r>
          </a:p>
          <a:p xmlns:a="http://schemas.openxmlformats.org/drawingml/2006/main">
            <a:pPr>
              <a:buNone/>
              <a:defRPr sz="1000" i="1"/>
            </a:pPr>
            <a:r>
              <a:t>Visvesvaraya Technological University, India</a:t>
            </a:r>
          </a:p>
        </p:txBody>
      </p:sp>
    </p:spTree>
    <p:extLst>
      <p:ext uri="{BB962C8B-B14F-4D97-AF65-F5344CB8AC3E}">
        <p14:creationId xmlns:p14="http://schemas.microsoft.com/office/powerpoint/2010/main" val="387782510"/>
      </p:ext>
    </p:extLst>
  </p:cSld>
</p:sld>
</file>

<file path=ppt/theme/theme1.xml><?xml version="1.0" encoding="utf-8"?>
<a:theme xmlns:a="http://schemas.openxmlformats.org/drawingml/2006/main" name="QFF2026">
  <a:themeElements>
    <a:clrScheme name="QFF2026">
      <a:dk1>
        <a:srgbClr val="2B1B5E"/>
      </a:dk1>
      <a:lt1>
        <a:srgbClr val="DDE2FC"/>
      </a:lt1>
      <a:dk2>
        <a:srgbClr val="A7A7A7"/>
      </a:dk2>
      <a:lt2>
        <a:srgbClr val="535353"/>
      </a:lt2>
      <a:accent1>
        <a:srgbClr val="7C93F0"/>
      </a:accent1>
      <a:accent2>
        <a:srgbClr val="E8639F"/>
      </a:accent2>
      <a:accent3>
        <a:srgbClr val="5B3BA8"/>
      </a:accent3>
      <a:accent4>
        <a:srgbClr val="6B6B9A"/>
      </a:accent4>
      <a:accent5>
        <a:srgbClr val="B9BEF0"/>
      </a:accent5>
      <a:accent6>
        <a:srgbClr val="CBD1F5"/>
      </a:accent6>
      <a:hlink>
        <a:srgbClr val="0000FF"/>
      </a:hlink>
      <a:folHlink>
        <a:srgbClr val="FF00FF"/>
      </a:folHlink>
    </a:clrScheme>
    <a:fontScheme name="QFF2026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QFF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2026-10-23T07:28:52.3970000Z</dcterms:created>
  <dcterms:modified xsi:type="dcterms:W3CDTF">2026-10-23T07:28:52.3970000Z</dcterms:modified>
</coreProperties>
</file>